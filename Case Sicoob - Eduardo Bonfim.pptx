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Helvetica Neue"/>
      <p:regular r:id="rId25"/>
      <p:bold r:id="rId26"/>
      <p:italic r:id="rId27"/>
      <p:boldItalic r:id="rId28"/>
    </p:embeddedFont>
    <p:embeddedFont>
      <p:font typeface="Helvetica Neue Light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bold.fntdata"/><Relationship Id="rId25" Type="http://schemas.openxmlformats.org/officeDocument/2006/relationships/font" Target="fonts/HelveticaNeue-regular.fntdata"/><Relationship Id="rId28" Type="http://schemas.openxmlformats.org/officeDocument/2006/relationships/font" Target="fonts/HelveticaNeue-boldItalic.fntdata"/><Relationship Id="rId27" Type="http://schemas.openxmlformats.org/officeDocument/2006/relationships/font" Target="fonts/HelveticaNeu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Light-italic.fntdata"/><Relationship Id="rId30" Type="http://schemas.openxmlformats.org/officeDocument/2006/relationships/font" Target="fonts/HelveticaNeueLight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HelveticaNeueLight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1c041772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1c041772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1c041772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1c041772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1cfdb211b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1cfdb211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Nos últimos anos, a cooperativa cresceu em volume de operações, número de cooperados,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variedade de produtos e abrangência logística. Com isso, os dados passaram a surgir de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diferentes frentes do negócio, sem padronização adequada e com pouca governança.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1c041772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1c041772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1c041772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1c041772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1c041772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1c041772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1c041772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1c041772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1cfdb211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1cfdb211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1cfdb211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1cfdb211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cooperados</a:t>
            </a:r>
            <a:r>
              <a:rPr lang="en">
                <a:solidFill>
                  <a:schemeClr val="dk1"/>
                </a:solidFill>
              </a:rPr>
              <a:t> — quem é a pessoa ou empresa associada à cooperativa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id_cooperado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cpf_cnpj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data_adesao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situacao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Problemas: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situacao</a:t>
            </a:r>
            <a:r>
              <a:rPr lang="en">
                <a:solidFill>
                  <a:schemeClr val="dk1"/>
                </a:solidFill>
              </a:rPr>
              <a:t> com capitalização inconsistente, datas mal formatadas, duplicatas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fazendas</a:t>
            </a:r>
            <a:r>
              <a:rPr lang="en">
                <a:solidFill>
                  <a:schemeClr val="dk1"/>
                </a:solidFill>
              </a:rPr>
              <a:t> — as propriedades pertencentes a um cooperado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id_fazenda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id_cooperado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nome_fazenda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municipio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area_hectares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qtd_animais_lactacao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raca_predominante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Problemas: nulos em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area_hectares</a:t>
            </a:r>
            <a:r>
              <a:rPr lang="en">
                <a:solidFill>
                  <a:schemeClr val="dk1"/>
                </a:solidFill>
              </a:rPr>
              <a:t>, capitalização inconsistente em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raca_predominante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coletas</a:t>
            </a:r>
            <a:r>
              <a:rPr lang="en">
                <a:solidFill>
                  <a:schemeClr val="dk1"/>
                </a:solidFill>
              </a:rPr>
              <a:t> — registro diário do volume de leite coletado em cada fazenda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id_coleta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id_fazenda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id_rota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data_coleta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volume_litros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temperatura_c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gordura_pct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proteina_pct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acidez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Problemas: volume negativo, datas mal formatadas, nulos em campos de qualidade do leite, duplicatas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rotas</a:t>
            </a:r>
            <a:r>
              <a:rPr lang="en">
                <a:solidFill>
                  <a:schemeClr val="dk1"/>
                </a:solidFill>
              </a:rPr>
              <a:t> — os trajetos utilizados para coleta e entrega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id_rota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nome_rota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municipio_origem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km_total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veiculo_tipo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ativa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Sem problemas graves — tabela pequena e estável.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produtos</a:t>
            </a:r>
            <a:r>
              <a:rPr lang="en">
                <a:solidFill>
                  <a:schemeClr val="dk1"/>
                </a:solidFill>
              </a:rPr>
              <a:t> — catálogo de produtos fabricados pela cooperativa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id_produto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nome_produto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categoria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unidade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preco_venda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custo_unitario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ativo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Problemas: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preco_venda</a:t>
            </a:r>
            <a:r>
              <a:rPr lang="en">
                <a:solidFill>
                  <a:schemeClr val="dk1"/>
                </a:solidFill>
              </a:rPr>
              <a:t> zerado em alguns registros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producao</a:t>
            </a:r>
            <a:r>
              <a:rPr lang="en">
                <a:solidFill>
                  <a:schemeClr val="dk1"/>
                </a:solidFill>
              </a:rPr>
              <a:t> — ordens de produção na planta industrial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id_producao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id_produto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data_producao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linha_producao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volume_entrada_litros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volume_saida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custo_total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lote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validade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Problemas: capitalização inconsistente em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linha_producao</a:t>
            </a:r>
            <a:r>
              <a:rPr lang="en">
                <a:solidFill>
                  <a:schemeClr val="dk1"/>
                </a:solidFill>
              </a:rPr>
              <a:t>, nulos em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custo_total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clientes</a:t>
            </a:r>
            <a:r>
              <a:rPr lang="en">
                <a:solidFill>
                  <a:schemeClr val="dk1"/>
                </a:solidFill>
              </a:rPr>
              <a:t> — empresas ou pessoas que compram os produtos da cooperativa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id_cliente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nome_cliente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segmento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estado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cidade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cnpj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ativo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Problemas: nulos em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cidade</a:t>
            </a:r>
            <a:r>
              <a:rPr lang="en">
                <a:solidFill>
                  <a:schemeClr val="dk1"/>
                </a:solidFill>
              </a:rPr>
              <a:t> 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cnpj</a:t>
            </a:r>
            <a:r>
              <a:rPr lang="en">
                <a:solidFill>
                  <a:schemeClr val="dk1"/>
                </a:solidFill>
              </a:rPr>
              <a:t>, capitalização inconsistente em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segmento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pedidos</a:t>
            </a:r>
            <a:r>
              <a:rPr lang="en">
                <a:solidFill>
                  <a:schemeClr val="dk1"/>
                </a:solidFill>
              </a:rPr>
              <a:t> — cabeçalho de cada pedido de venda realizado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id_pedido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id_cliente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data_pedido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status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canal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desconto_pct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Problemas: duplicatas, datas mal formatadas, capitalização inconsistente em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status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itens_pedido</a:t>
            </a:r>
            <a:r>
              <a:rPr lang="en">
                <a:solidFill>
                  <a:schemeClr val="dk1"/>
                </a:solidFill>
              </a:rPr>
              <a:t> — os produtos dentro de cada pedido, com quantidade e preço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id_item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id_pedido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id_produto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quantidade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preco_unitario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valor_total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Problemas: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preco_unitario</a:t>
            </a:r>
            <a:r>
              <a:rPr lang="en">
                <a:solidFill>
                  <a:schemeClr val="dk1"/>
                </a:solidFill>
              </a:rPr>
              <a:t> negativo em alguns registros,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valor_total</a:t>
            </a:r>
            <a:r>
              <a:rPr lang="en">
                <a:solidFill>
                  <a:schemeClr val="dk1"/>
                </a:solidFill>
              </a:rPr>
              <a:t> nulo (será imputado depois)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entregas</a:t>
            </a:r>
            <a:r>
              <a:rPr lang="en">
                <a:solidFill>
                  <a:schemeClr val="dk1"/>
                </a:solidFill>
              </a:rPr>
              <a:t> — execução logística de cada pedido, com prazo e custo de frete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id_entrega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id_pedido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id_rota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data_prevista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data_realizada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status_entrega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km_percorrido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custo_frete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ocorrencia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Problemas: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data_realizada</a:t>
            </a:r>
            <a:r>
              <a:rPr lang="en">
                <a:solidFill>
                  <a:schemeClr val="dk1"/>
                </a:solidFill>
              </a:rPr>
              <a:t> nula para entregas pendentes, datas mal formatadas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custos_operacionais</a:t>
            </a:r>
            <a:r>
              <a:rPr lang="en">
                <a:solidFill>
                  <a:schemeClr val="dk1"/>
                </a:solidFill>
              </a:rPr>
              <a:t> — custos fixos e variáveis registrados por centro de custo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id_custo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centro_custo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tipo_custo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descricao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data_referencia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competencia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Problemas: capitalização inconsistente em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tipo_custo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perdas</a:t>
            </a:r>
            <a:r>
              <a:rPr lang="en">
                <a:solidFill>
                  <a:schemeClr val="dk1"/>
                </a:solidFill>
              </a:rPr>
              <a:t> — ocorrências de perda de volume ou valor em qualquer etapa da cadeia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id_perda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etapa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tipo_perda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data_perda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volume_litros_ou_kg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valor_estimado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id_cooperado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id_producao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id_entrega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descricao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Problemas: os três IDs são opcionais dependendo da etapa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1cfdb211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1cfdb211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1cfdb211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1cfdb211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1cfdb211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1cfdb211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1cfdb211b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1cfdb211b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1cfdb211b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e1cfdb211b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1f72349b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1f72349b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1f72349b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e1f72349b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1f72349ba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e1f72349ba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1f72349b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e1f72349b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ebbonfimm/case_sicoob_coopllacti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374525" y="1039600"/>
            <a:ext cx="3116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COOPLLACTIA COOP LTDA</a:t>
            </a:r>
            <a:endParaRPr b="1" sz="290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CASE PRÁTICO - SICOOB CREDICOM</a:t>
            </a:r>
            <a:endParaRPr sz="1100">
              <a:solidFill>
                <a:srgbClr val="00364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211075" y="4602800"/>
            <a:ext cx="387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EDUARDO BRAGA BONFIM</a:t>
            </a:r>
            <a:endParaRPr sz="1000">
              <a:solidFill>
                <a:srgbClr val="00364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14/05/2026</a:t>
            </a:r>
            <a:endParaRPr sz="100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5132603" y="0"/>
            <a:ext cx="67500" cy="5143500"/>
          </a:xfrm>
          <a:prstGeom prst="rect">
            <a:avLst/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-132" y="0"/>
            <a:ext cx="3293100" cy="5143500"/>
          </a:xfrm>
          <a:prstGeom prst="rect">
            <a:avLst/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340000" y="331300"/>
            <a:ext cx="31167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SOBRE O QUE VAMOS CONVERSAR HOJE?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197650" y="540000"/>
            <a:ext cx="4173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3641"/>
              </a:buClr>
              <a:buSzPts val="1400"/>
              <a:buChar char="●"/>
            </a:pPr>
            <a:r>
              <a:rPr b="1" lang="en">
                <a:solidFill>
                  <a:srgbClr val="003641"/>
                </a:solidFill>
              </a:rPr>
              <a:t>Entendimento do problema:</a:t>
            </a:r>
            <a:r>
              <a:rPr lang="en">
                <a:solidFill>
                  <a:srgbClr val="003641"/>
                </a:solidFill>
              </a:rPr>
              <a:t> </a:t>
            </a:r>
            <a:r>
              <a:rPr lang="en">
                <a:solidFill>
                  <a:srgbClr val="434343"/>
                </a:solidFill>
              </a:rPr>
              <a:t>Fase Inicial, desenho, pesquisas e questionamentos</a:t>
            </a:r>
            <a:endParaRPr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64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3641"/>
              </a:buClr>
              <a:buSzPts val="1400"/>
              <a:buChar char="●"/>
            </a:pPr>
            <a:r>
              <a:rPr b="1" lang="en">
                <a:solidFill>
                  <a:srgbClr val="003641"/>
                </a:solidFill>
              </a:rPr>
              <a:t>Quais são os principais pontos que contribuem para o crescimento do negócio?:</a:t>
            </a:r>
            <a:r>
              <a:rPr lang="en">
                <a:solidFill>
                  <a:srgbClr val="003641"/>
                </a:solidFill>
              </a:rPr>
              <a:t> </a:t>
            </a:r>
            <a:r>
              <a:rPr lang="en">
                <a:solidFill>
                  <a:srgbClr val="434343"/>
                </a:solidFill>
              </a:rPr>
              <a:t>Perguntas fundamentais, quais análises estamos buscando e quais dados responderão as perguntas.</a:t>
            </a:r>
            <a:endParaRPr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64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3641"/>
              </a:buClr>
              <a:buSzPts val="1400"/>
              <a:buChar char="●"/>
            </a:pPr>
            <a:r>
              <a:rPr b="1" lang="en">
                <a:solidFill>
                  <a:srgbClr val="003641"/>
                </a:solidFill>
              </a:rPr>
              <a:t>Modelagem da solução: </a:t>
            </a:r>
            <a:r>
              <a:rPr lang="en">
                <a:solidFill>
                  <a:srgbClr val="434343"/>
                </a:solidFill>
              </a:rPr>
              <a:t>Modelagem do banco, ferramentas envolvidas no projeto</a:t>
            </a:r>
            <a:endParaRPr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64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3641"/>
              </a:buClr>
              <a:buSzPts val="1400"/>
              <a:buChar char="●"/>
            </a:pPr>
            <a:r>
              <a:rPr b="1" lang="en">
                <a:solidFill>
                  <a:srgbClr val="003641"/>
                </a:solidFill>
              </a:rPr>
              <a:t>Resolvendo o problema:</a:t>
            </a:r>
            <a:r>
              <a:rPr lang="en">
                <a:solidFill>
                  <a:srgbClr val="003641"/>
                </a:solidFill>
              </a:rPr>
              <a:t> </a:t>
            </a:r>
            <a:r>
              <a:rPr lang="en">
                <a:solidFill>
                  <a:srgbClr val="434343"/>
                </a:solidFill>
              </a:rPr>
              <a:t>Assista o projeto funcionando na prática</a:t>
            </a:r>
            <a:endParaRPr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64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3641"/>
              </a:buClr>
              <a:buSzPts val="1400"/>
              <a:buChar char="●"/>
            </a:pPr>
            <a:r>
              <a:rPr b="1" lang="en">
                <a:solidFill>
                  <a:srgbClr val="003641"/>
                </a:solidFill>
              </a:rPr>
              <a:t>Insights finais:</a:t>
            </a:r>
            <a:r>
              <a:rPr lang="en">
                <a:solidFill>
                  <a:srgbClr val="003641"/>
                </a:solidFill>
              </a:rPr>
              <a:t> </a:t>
            </a:r>
            <a:r>
              <a:rPr lang="en">
                <a:solidFill>
                  <a:srgbClr val="434343"/>
                </a:solidFill>
              </a:rPr>
              <a:t>O que descobrimos com tudo isso e quais serão os próximos passos?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-113" y="0"/>
            <a:ext cx="9144000" cy="5143500"/>
          </a:xfrm>
          <a:prstGeom prst="rect">
            <a:avLst/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5755950" y="3829325"/>
            <a:ext cx="3116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VAMOS EM FRENTE!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64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-132" y="0"/>
            <a:ext cx="32931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200697" y="331300"/>
            <a:ext cx="3116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CRESCEMOS…</a:t>
            </a:r>
            <a:endParaRPr sz="2900">
              <a:solidFill>
                <a:srgbClr val="00364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AGORA?</a:t>
            </a:r>
            <a:endParaRPr b="1" sz="2900">
              <a:solidFill>
                <a:srgbClr val="00364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197650" y="540000"/>
            <a:ext cx="4173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Aumento no números de cooperados, refletindo em </a:t>
            </a:r>
            <a:r>
              <a:rPr b="1" lang="en">
                <a:solidFill>
                  <a:schemeClr val="lt1"/>
                </a:solidFill>
              </a:rPr>
              <a:t>novos dados sendo gerados</a:t>
            </a:r>
            <a:r>
              <a:rPr lang="en">
                <a:solidFill>
                  <a:schemeClr val="lt1"/>
                </a:solidFill>
              </a:rPr>
              <a:t> de forma recorrente.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Crescimento da produção e comercialização refletindo no aumento de esforços operativos, resultando também em um </a:t>
            </a:r>
            <a:r>
              <a:rPr b="1" lang="en">
                <a:solidFill>
                  <a:schemeClr val="lt1"/>
                </a:solidFill>
              </a:rPr>
              <a:t>volume de dados maior</a:t>
            </a:r>
            <a:r>
              <a:rPr lang="en">
                <a:solidFill>
                  <a:schemeClr val="lt1"/>
                </a:solidFill>
              </a:rPr>
              <a:t> que precisam ser normalizados.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Expansão na variedade de produtos 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processados a partir do leite, o que requer uma estrutura de dados que permita analisar </a:t>
            </a:r>
            <a:r>
              <a:rPr b="1" lang="en">
                <a:solidFill>
                  <a:schemeClr val="lt1"/>
                </a:solidFill>
              </a:rPr>
              <a:t>lucratividade </a:t>
            </a:r>
            <a:r>
              <a:rPr lang="en">
                <a:solidFill>
                  <a:schemeClr val="lt1"/>
                </a:solidFill>
              </a:rPr>
              <a:t>e comercialização para os canais de distribuição.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6468850" y="4742275"/>
            <a:ext cx="259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Entendimento do problema</a:t>
            </a:r>
            <a:endParaRPr sz="8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340000" y="331300"/>
            <a:ext cx="31167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QUEREMOS NOS TORNAR A </a:t>
            </a:r>
            <a:r>
              <a:rPr b="1" lang="en" sz="29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PRINCIPAL FORNECEDORA DA REGIÃO</a:t>
            </a:r>
            <a:endParaRPr b="1" sz="1100">
              <a:solidFill>
                <a:srgbClr val="00364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1066800" y="3591900"/>
            <a:ext cx="31887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REDUZINDO CUSTOS</a:t>
            </a:r>
            <a:endParaRPr>
              <a:solidFill>
                <a:srgbClr val="00364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888500" y="3591900"/>
            <a:ext cx="3188700" cy="9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AUMENTANDO EFICIÊNCIA OPERACIONAL</a:t>
            </a:r>
            <a:endParaRPr>
              <a:solidFill>
                <a:srgbClr val="00364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6468850" y="4742275"/>
            <a:ext cx="259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364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Entendimento do problema</a:t>
            </a:r>
            <a:endParaRPr sz="800">
              <a:solidFill>
                <a:srgbClr val="00364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/>
        </p:nvSpPr>
        <p:spPr>
          <a:xfrm>
            <a:off x="5350950" y="532625"/>
            <a:ext cx="31167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ALCANÇANDO ISSO, OS IMPACTOS SÃO CLAROS</a:t>
            </a:r>
            <a:endParaRPr sz="1100">
              <a:solidFill>
                <a:srgbClr val="00364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1066800" y="3591900"/>
            <a:ext cx="3188700" cy="914400"/>
          </a:xfrm>
          <a:prstGeom prst="roundRect">
            <a:avLst>
              <a:gd fmla="val 16667" name="adj"/>
            </a:avLst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MARGEM MAIOR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4888500" y="3591900"/>
            <a:ext cx="3188700" cy="914400"/>
          </a:xfrm>
          <a:prstGeom prst="roundRect">
            <a:avLst>
              <a:gd fmla="val 16667" name="adj"/>
            </a:avLst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SATISFAÇÃO INTERNA E EXTERNA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6468850" y="4742275"/>
            <a:ext cx="259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364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Entendimento do problema</a:t>
            </a:r>
            <a:endParaRPr sz="800">
              <a:solidFill>
                <a:srgbClr val="00364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64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/>
        </p:nvSpPr>
        <p:spPr>
          <a:xfrm>
            <a:off x="298600" y="693900"/>
            <a:ext cx="31167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CAMINHO MAIS EFICIENTE PARA ALCANÇAR É</a:t>
            </a:r>
            <a:r>
              <a:rPr b="1"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TRABALHAR BEM COM OS DADOS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4926291" y="693900"/>
            <a:ext cx="31167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DADOS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4926291" y="2256150"/>
            <a:ext cx="31167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INSIGHTS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4926291" y="3818400"/>
            <a:ext cx="31167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AÇÕES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3" name="Google Shape;103;p19"/>
          <p:cNvCxnSpPr>
            <a:stCxn id="100" idx="2"/>
            <a:endCxn id="101" idx="0"/>
          </p:cNvCxnSpPr>
          <p:nvPr/>
        </p:nvCxnSpPr>
        <p:spPr>
          <a:xfrm>
            <a:off x="6484641" y="1325100"/>
            <a:ext cx="0" cy="931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9"/>
          <p:cNvCxnSpPr/>
          <p:nvPr/>
        </p:nvCxnSpPr>
        <p:spPr>
          <a:xfrm>
            <a:off x="6484641" y="2887350"/>
            <a:ext cx="0" cy="931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9"/>
          <p:cNvSpPr txBox="1"/>
          <p:nvPr/>
        </p:nvSpPr>
        <p:spPr>
          <a:xfrm>
            <a:off x="6468850" y="4742275"/>
            <a:ext cx="259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Entendimento do problema</a:t>
            </a:r>
            <a:endParaRPr sz="8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/>
        </p:nvSpPr>
        <p:spPr>
          <a:xfrm>
            <a:off x="146700" y="110450"/>
            <a:ext cx="7785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PRIMEIRO É PRECISO ENTENDER</a:t>
            </a:r>
            <a:r>
              <a:rPr b="1" lang="en" sz="29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2900">
              <a:solidFill>
                <a:srgbClr val="00364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COMO TUDO FUNCIONA</a:t>
            </a:r>
            <a:endParaRPr sz="1100">
              <a:solidFill>
                <a:srgbClr val="00364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650" y="1187750"/>
            <a:ext cx="7662688" cy="365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6468850" y="4742275"/>
            <a:ext cx="259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364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Entendimento do problema</a:t>
            </a:r>
            <a:endParaRPr sz="800">
              <a:solidFill>
                <a:srgbClr val="00364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64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/>
        </p:nvSpPr>
        <p:spPr>
          <a:xfrm>
            <a:off x="498750" y="2726400"/>
            <a:ext cx="81465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“Análises sobre operação, fornecedores, produção, clientes, distribuição, perdas, custos ou qualquer outro tema”</a:t>
            </a:r>
            <a:endParaRPr i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498750" y="1308250"/>
            <a:ext cx="8146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MODELAGEM DEVE RESPONDER ESSAS PERGUNTAS DE NEGÓCIO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6479521" y="4688919"/>
            <a:ext cx="259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Quais são os principais pontos que contribuem para o crescimento do negócio?</a:t>
            </a:r>
            <a:endParaRPr sz="8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/>
        </p:nvSpPr>
        <p:spPr>
          <a:xfrm>
            <a:off x="146700" y="110450"/>
            <a:ext cx="7785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QUAIS DADOS VÃO TRADUZIR ESSES ENTENDIMENTOS?</a:t>
            </a:r>
            <a:endParaRPr sz="1100">
              <a:solidFill>
                <a:srgbClr val="00364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22"/>
          <p:cNvSpPr/>
          <p:nvPr/>
        </p:nvSpPr>
        <p:spPr>
          <a:xfrm>
            <a:off x="399000" y="1478125"/>
            <a:ext cx="1551000" cy="458400"/>
          </a:xfrm>
          <a:prstGeom prst="roundRect">
            <a:avLst>
              <a:gd fmla="val 16667" name="adj"/>
            </a:avLst>
          </a:prstGeom>
          <a:solidFill>
            <a:srgbClr val="00AE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cooperado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2220844" y="1478125"/>
            <a:ext cx="1551000" cy="458400"/>
          </a:xfrm>
          <a:prstGeom prst="roundRect">
            <a:avLst>
              <a:gd fmla="val 16667" name="adj"/>
            </a:avLst>
          </a:prstGeom>
          <a:solidFill>
            <a:srgbClr val="00AE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fazenda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458550" y="1936525"/>
            <a:ext cx="14319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quem é a pessoa/empresa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2205100" y="1936525"/>
            <a:ext cx="15825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as propriedades do cooperado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4372393" y="1478125"/>
            <a:ext cx="1551000" cy="458400"/>
          </a:xfrm>
          <a:prstGeom prst="roundRect">
            <a:avLst>
              <a:gd fmla="val 16667" name="adj"/>
            </a:avLst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coleta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4356650" y="1936525"/>
            <a:ext cx="15825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registro diário do volume de leite coletado em cada fazenda 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31" name="Google Shape;131;p22"/>
          <p:cNvCxnSpPr>
            <a:stCxn id="125" idx="3"/>
            <a:endCxn id="126" idx="1"/>
          </p:cNvCxnSpPr>
          <p:nvPr/>
        </p:nvCxnSpPr>
        <p:spPr>
          <a:xfrm>
            <a:off x="1950000" y="1707325"/>
            <a:ext cx="27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22"/>
          <p:cNvCxnSpPr>
            <a:stCxn id="126" idx="3"/>
            <a:endCxn id="129" idx="1"/>
          </p:cNvCxnSpPr>
          <p:nvPr/>
        </p:nvCxnSpPr>
        <p:spPr>
          <a:xfrm>
            <a:off x="3771844" y="1707325"/>
            <a:ext cx="60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22"/>
          <p:cNvSpPr/>
          <p:nvPr/>
        </p:nvSpPr>
        <p:spPr>
          <a:xfrm>
            <a:off x="399000" y="2455525"/>
            <a:ext cx="1551000" cy="458400"/>
          </a:xfrm>
          <a:prstGeom prst="roundRect">
            <a:avLst>
              <a:gd fmla="val 16667" name="adj"/>
            </a:avLst>
          </a:prstGeom>
          <a:solidFill>
            <a:srgbClr val="00AE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produto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458550" y="2913925"/>
            <a:ext cx="1431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catálogo de produtos fabricados pela cooperativa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2592083" y="2455525"/>
            <a:ext cx="1551000" cy="458400"/>
          </a:xfrm>
          <a:prstGeom prst="roundRect">
            <a:avLst>
              <a:gd fmla="val 16667" name="adj"/>
            </a:avLst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producao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2651640" y="2913925"/>
            <a:ext cx="1431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ordens de produção na planta industrial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399000" y="3729925"/>
            <a:ext cx="1551000" cy="458400"/>
          </a:xfrm>
          <a:prstGeom prst="roundRect">
            <a:avLst>
              <a:gd fmla="val 16667" name="adj"/>
            </a:avLst>
          </a:prstGeom>
          <a:solidFill>
            <a:srgbClr val="00AE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cliente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458550" y="4188325"/>
            <a:ext cx="1431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empresas ou pessoas que compram os produtos da cooperativa 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39" name="Google Shape;139;p22"/>
          <p:cNvCxnSpPr>
            <a:stCxn id="133" idx="3"/>
            <a:endCxn id="135" idx="1"/>
          </p:cNvCxnSpPr>
          <p:nvPr/>
        </p:nvCxnSpPr>
        <p:spPr>
          <a:xfrm>
            <a:off x="1950000" y="2684725"/>
            <a:ext cx="64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22"/>
          <p:cNvSpPr/>
          <p:nvPr/>
        </p:nvSpPr>
        <p:spPr>
          <a:xfrm>
            <a:off x="4372393" y="3729925"/>
            <a:ext cx="1551000" cy="458400"/>
          </a:xfrm>
          <a:prstGeom prst="roundRect">
            <a:avLst>
              <a:gd fmla="val 16667" name="adj"/>
            </a:avLst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pedido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4431950" y="4188325"/>
            <a:ext cx="1431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cabeçalho de cada pedido de venda realizado 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42" name="Google Shape;142;p22"/>
          <p:cNvCxnSpPr>
            <a:stCxn id="137" idx="3"/>
            <a:endCxn id="140" idx="1"/>
          </p:cNvCxnSpPr>
          <p:nvPr/>
        </p:nvCxnSpPr>
        <p:spPr>
          <a:xfrm>
            <a:off x="1950000" y="3959125"/>
            <a:ext cx="242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2"/>
          <p:cNvSpPr/>
          <p:nvPr/>
        </p:nvSpPr>
        <p:spPr>
          <a:xfrm>
            <a:off x="6380993" y="3729925"/>
            <a:ext cx="1551000" cy="458400"/>
          </a:xfrm>
          <a:prstGeom prst="roundRect">
            <a:avLst>
              <a:gd fmla="val 16667" name="adj"/>
            </a:avLst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itens_pedido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6440550" y="4188325"/>
            <a:ext cx="1431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os produtos dentro de cada pedido, com quantidade e preço 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45" name="Google Shape;145;p22"/>
          <p:cNvCxnSpPr>
            <a:stCxn id="140" idx="3"/>
            <a:endCxn id="143" idx="1"/>
          </p:cNvCxnSpPr>
          <p:nvPr/>
        </p:nvCxnSpPr>
        <p:spPr>
          <a:xfrm>
            <a:off x="5923393" y="3959125"/>
            <a:ext cx="45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2"/>
          <p:cNvCxnSpPr>
            <a:stCxn id="134" idx="2"/>
            <a:endCxn id="143" idx="0"/>
          </p:cNvCxnSpPr>
          <p:nvPr/>
        </p:nvCxnSpPr>
        <p:spPr>
          <a:xfrm>
            <a:off x="1174500" y="3203725"/>
            <a:ext cx="5982000" cy="52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22"/>
          <p:cNvSpPr/>
          <p:nvPr/>
        </p:nvSpPr>
        <p:spPr>
          <a:xfrm>
            <a:off x="7046543" y="1478125"/>
            <a:ext cx="1551000" cy="458400"/>
          </a:xfrm>
          <a:prstGeom prst="roundRect">
            <a:avLst>
              <a:gd fmla="val 16667" name="adj"/>
            </a:avLst>
          </a:prstGeom>
          <a:solidFill>
            <a:srgbClr val="00AE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rota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7030800" y="1936525"/>
            <a:ext cx="15825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os trajetos utilizados para coleta e entrega 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49" name="Google Shape;149;p22"/>
          <p:cNvCxnSpPr>
            <a:stCxn id="147" idx="1"/>
            <a:endCxn id="129" idx="3"/>
          </p:cNvCxnSpPr>
          <p:nvPr/>
        </p:nvCxnSpPr>
        <p:spPr>
          <a:xfrm rot="10800000">
            <a:off x="5923343" y="1707325"/>
            <a:ext cx="112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22"/>
          <p:cNvSpPr/>
          <p:nvPr/>
        </p:nvSpPr>
        <p:spPr>
          <a:xfrm>
            <a:off x="4376398" y="2466379"/>
            <a:ext cx="1551000" cy="458400"/>
          </a:xfrm>
          <a:prstGeom prst="roundRect">
            <a:avLst>
              <a:gd fmla="val 16667" name="adj"/>
            </a:avLst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entrega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4435955" y="2924779"/>
            <a:ext cx="1431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execução logística de cada pedido, com prazo e custo de frete 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152" name="Google Shape;152;p22"/>
          <p:cNvCxnSpPr>
            <a:stCxn id="140" idx="0"/>
            <a:endCxn id="151" idx="2"/>
          </p:cNvCxnSpPr>
          <p:nvPr/>
        </p:nvCxnSpPr>
        <p:spPr>
          <a:xfrm flipH="1" rot="10800000">
            <a:off x="5147893" y="3214525"/>
            <a:ext cx="3900" cy="51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2"/>
          <p:cNvCxnSpPr>
            <a:stCxn id="147" idx="1"/>
            <a:endCxn id="150" idx="3"/>
          </p:cNvCxnSpPr>
          <p:nvPr/>
        </p:nvCxnSpPr>
        <p:spPr>
          <a:xfrm flipH="1">
            <a:off x="5927543" y="1707325"/>
            <a:ext cx="1119000" cy="98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22"/>
          <p:cNvSpPr txBox="1"/>
          <p:nvPr/>
        </p:nvSpPr>
        <p:spPr>
          <a:xfrm>
            <a:off x="6479521" y="4688919"/>
            <a:ext cx="259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364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Quais são os principais pontos que contribuem para o crescimento do negócio?</a:t>
            </a:r>
            <a:endParaRPr sz="800">
              <a:solidFill>
                <a:srgbClr val="00364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/>
        </p:nvSpPr>
        <p:spPr>
          <a:xfrm>
            <a:off x="146700" y="110450"/>
            <a:ext cx="7785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TABELAS ADICIONAIS</a:t>
            </a:r>
            <a:endParaRPr sz="1100">
              <a:solidFill>
                <a:srgbClr val="00364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1819075" y="2114488"/>
            <a:ext cx="1551000" cy="458400"/>
          </a:xfrm>
          <a:prstGeom prst="roundRect">
            <a:avLst>
              <a:gd fmla="val 16667" name="adj"/>
            </a:avLst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perda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1878625" y="2572888"/>
            <a:ext cx="14319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ocorrências de perda de volume ou valor em qualquer etapa da cadeia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1819075" y="3500463"/>
            <a:ext cx="1551000" cy="458400"/>
          </a:xfrm>
          <a:prstGeom prst="roundRect">
            <a:avLst>
              <a:gd fmla="val 16667" name="adj"/>
            </a:avLst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1878625" y="3958863"/>
            <a:ext cx="1431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custos fixos e variáveis registrados por centro de custo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5773925" y="1326638"/>
            <a:ext cx="1551000" cy="458400"/>
          </a:xfrm>
          <a:prstGeom prst="roundRect">
            <a:avLst>
              <a:gd fmla="val 16667" name="adj"/>
            </a:avLst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cooperado</a:t>
            </a:r>
            <a:endParaRPr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5773933" y="2114488"/>
            <a:ext cx="1551000" cy="458400"/>
          </a:xfrm>
          <a:prstGeom prst="roundRect">
            <a:avLst>
              <a:gd fmla="val 16667" name="adj"/>
            </a:avLst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producao</a:t>
            </a:r>
            <a:endParaRPr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5773923" y="2902342"/>
            <a:ext cx="1551000" cy="458400"/>
          </a:xfrm>
          <a:prstGeom prst="roundRect">
            <a:avLst>
              <a:gd fmla="val 16667" name="adj"/>
            </a:avLst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entrega</a:t>
            </a:r>
            <a:endParaRPr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67" name="Google Shape;167;p23"/>
          <p:cNvCxnSpPr>
            <a:stCxn id="160" idx="3"/>
            <a:endCxn id="164" idx="1"/>
          </p:cNvCxnSpPr>
          <p:nvPr/>
        </p:nvCxnSpPr>
        <p:spPr>
          <a:xfrm flipH="1" rot="10800000">
            <a:off x="3370075" y="1555888"/>
            <a:ext cx="2403900" cy="78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168" name="Google Shape;168;p23"/>
          <p:cNvCxnSpPr>
            <a:stCxn id="160" idx="3"/>
            <a:endCxn id="165" idx="1"/>
          </p:cNvCxnSpPr>
          <p:nvPr/>
        </p:nvCxnSpPr>
        <p:spPr>
          <a:xfrm>
            <a:off x="3370075" y="2343688"/>
            <a:ext cx="240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169" name="Google Shape;169;p23"/>
          <p:cNvCxnSpPr>
            <a:stCxn id="160" idx="3"/>
            <a:endCxn id="166" idx="1"/>
          </p:cNvCxnSpPr>
          <p:nvPr/>
        </p:nvCxnSpPr>
        <p:spPr>
          <a:xfrm>
            <a:off x="3370075" y="2343688"/>
            <a:ext cx="2403900" cy="78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stealth"/>
            <a:tailEnd len="med" w="med" type="none"/>
          </a:ln>
        </p:spPr>
      </p:cxnSp>
      <p:sp>
        <p:nvSpPr>
          <p:cNvPr id="170" name="Google Shape;170;p23"/>
          <p:cNvSpPr txBox="1"/>
          <p:nvPr/>
        </p:nvSpPr>
        <p:spPr>
          <a:xfrm>
            <a:off x="6479521" y="4688919"/>
            <a:ext cx="259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364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Quais são os principais pontos que contribuem para o crescimento do negócio?</a:t>
            </a:r>
            <a:endParaRPr sz="800">
              <a:solidFill>
                <a:srgbClr val="00364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235" y="1187748"/>
            <a:ext cx="4548241" cy="201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2043" y="3356266"/>
            <a:ext cx="2914601" cy="1739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24"/>
          <p:cNvCxnSpPr/>
          <p:nvPr/>
        </p:nvCxnSpPr>
        <p:spPr>
          <a:xfrm>
            <a:off x="204200" y="3375050"/>
            <a:ext cx="51435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8" name="Google Shape;178;p24"/>
          <p:cNvSpPr/>
          <p:nvPr/>
        </p:nvSpPr>
        <p:spPr>
          <a:xfrm>
            <a:off x="-200" y="0"/>
            <a:ext cx="9144000" cy="5166600"/>
          </a:xfrm>
          <a:prstGeom prst="rect">
            <a:avLst/>
          </a:prstGeom>
          <a:solidFill>
            <a:srgbClr val="595959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4"/>
          <p:cNvPicPr preferRelativeResize="0"/>
          <p:nvPr/>
        </p:nvPicPr>
        <p:blipFill rotWithShape="1">
          <a:blip r:embed="rId4">
            <a:alphaModFix/>
          </a:blip>
          <a:srcRect b="0" l="0" r="68661" t="27667"/>
          <a:stretch/>
        </p:blipFill>
        <p:spPr>
          <a:xfrm>
            <a:off x="1352050" y="3837400"/>
            <a:ext cx="913399" cy="125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/>
        </p:nvSpPr>
        <p:spPr>
          <a:xfrm>
            <a:off x="146700" y="110450"/>
            <a:ext cx="7785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ONDE ESTÃO OS DADOS QUE RESPONDEM AS PERGUNTAS?</a:t>
            </a:r>
            <a:endParaRPr sz="1100">
              <a:solidFill>
                <a:srgbClr val="00364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1" name="Google Shape;181;p24"/>
          <p:cNvPicPr preferRelativeResize="0"/>
          <p:nvPr/>
        </p:nvPicPr>
        <p:blipFill rotWithShape="1">
          <a:blip r:embed="rId3">
            <a:alphaModFix/>
          </a:blip>
          <a:srcRect b="33612" l="47149" r="0" t="0"/>
          <a:stretch/>
        </p:blipFill>
        <p:spPr>
          <a:xfrm>
            <a:off x="2679626" y="1187749"/>
            <a:ext cx="2403850" cy="13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4"/>
          <p:cNvPicPr preferRelativeResize="0"/>
          <p:nvPr/>
        </p:nvPicPr>
        <p:blipFill rotWithShape="1">
          <a:blip r:embed="rId3">
            <a:alphaModFix/>
          </a:blip>
          <a:srcRect b="33611" l="25761" r="51791" t="39411"/>
          <a:stretch/>
        </p:blipFill>
        <p:spPr>
          <a:xfrm>
            <a:off x="1706800" y="1983050"/>
            <a:ext cx="1020999" cy="5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4"/>
          <p:cNvSpPr/>
          <p:nvPr/>
        </p:nvSpPr>
        <p:spPr>
          <a:xfrm>
            <a:off x="5685750" y="1206625"/>
            <a:ext cx="3063000" cy="330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Todas as tabelas são importantes para a operação. Mas quando voltamos os holofotes para a questão da </a:t>
            </a:r>
            <a:r>
              <a:rPr b="1" lang="en" sz="1200">
                <a:solidFill>
                  <a:srgbClr val="003641"/>
                </a:solidFill>
              </a:rPr>
              <a:t>melhoria operativa </a:t>
            </a:r>
            <a:r>
              <a:rPr lang="en" sz="1200">
                <a:solidFill>
                  <a:srgbClr val="666666"/>
                </a:solidFill>
              </a:rPr>
              <a:t>e</a:t>
            </a:r>
            <a:r>
              <a:rPr b="1" lang="en" sz="1200">
                <a:solidFill>
                  <a:srgbClr val="003641"/>
                </a:solidFill>
              </a:rPr>
              <a:t> </a:t>
            </a:r>
            <a:r>
              <a:rPr b="1" lang="en" sz="1200">
                <a:solidFill>
                  <a:srgbClr val="003641"/>
                </a:solidFill>
              </a:rPr>
              <a:t>custo</a:t>
            </a:r>
            <a:r>
              <a:rPr lang="en" sz="1200">
                <a:solidFill>
                  <a:schemeClr val="dk2"/>
                </a:solidFill>
              </a:rPr>
              <a:t>, enxergamos essas tabelas sendo os núcleo para nossas respostas.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4" name="Google Shape;184;p24"/>
          <p:cNvSpPr/>
          <p:nvPr/>
        </p:nvSpPr>
        <p:spPr>
          <a:xfrm>
            <a:off x="5145625" y="1187750"/>
            <a:ext cx="274200" cy="274200"/>
          </a:xfrm>
          <a:prstGeom prst="ellipse">
            <a:avLst/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1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5" name="Google Shape;185;p24"/>
          <p:cNvSpPr/>
          <p:nvPr/>
        </p:nvSpPr>
        <p:spPr>
          <a:xfrm>
            <a:off x="2265450" y="3626175"/>
            <a:ext cx="274200" cy="274200"/>
          </a:xfrm>
          <a:prstGeom prst="ellipse">
            <a:avLst/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2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6" name="Google Shape;186;p24"/>
          <p:cNvSpPr/>
          <p:nvPr/>
        </p:nvSpPr>
        <p:spPr>
          <a:xfrm>
            <a:off x="5841450" y="2467875"/>
            <a:ext cx="2751600" cy="933300"/>
          </a:xfrm>
          <a:prstGeom prst="rect">
            <a:avLst/>
          </a:prstGeom>
          <a:solidFill>
            <a:srgbClr val="00364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1. Melhorias na logística de </a:t>
            </a:r>
            <a:r>
              <a:rPr b="1" lang="en" sz="1000">
                <a:solidFill>
                  <a:schemeClr val="lt1"/>
                </a:solidFill>
              </a:rPr>
              <a:t>coleta </a:t>
            </a:r>
            <a:r>
              <a:rPr lang="en" sz="1000">
                <a:solidFill>
                  <a:schemeClr val="lt1"/>
                </a:solidFill>
              </a:rPr>
              <a:t>e </a:t>
            </a:r>
            <a:r>
              <a:rPr b="1" lang="en" sz="1000">
                <a:solidFill>
                  <a:schemeClr val="lt1"/>
                </a:solidFill>
              </a:rPr>
              <a:t>entrega </a:t>
            </a:r>
            <a:r>
              <a:rPr lang="en" sz="1000">
                <a:solidFill>
                  <a:schemeClr val="lt1"/>
                </a:solidFill>
              </a:rPr>
              <a:t>de produtos devem garantir a eficiência no processo além da redução de custos ligados a combustível, depreciação dos veículos e tempo.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5841450" y="3481712"/>
            <a:ext cx="2751600" cy="933300"/>
          </a:xfrm>
          <a:prstGeom prst="rect">
            <a:avLst/>
          </a:prstGeom>
          <a:solidFill>
            <a:srgbClr val="00364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2. A análise de perdas e custos é essencial para compreender onde os gargalos estão sendo gerados. É possível associar os insights a geração de novos processos e melhorias.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88" name="Google Shape;188;p24"/>
          <p:cNvSpPr txBox="1"/>
          <p:nvPr/>
        </p:nvSpPr>
        <p:spPr>
          <a:xfrm>
            <a:off x="6479521" y="4688919"/>
            <a:ext cx="259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Quais são os principais pontos que contribuem para o crescimento do negócio?</a:t>
            </a:r>
            <a:endParaRPr sz="8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/>
          <p:nvPr/>
        </p:nvSpPr>
        <p:spPr>
          <a:xfrm>
            <a:off x="-97" y="0"/>
            <a:ext cx="4572000" cy="5143500"/>
          </a:xfrm>
          <a:prstGeom prst="rect">
            <a:avLst/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5"/>
          <p:cNvSpPr txBox="1"/>
          <p:nvPr/>
        </p:nvSpPr>
        <p:spPr>
          <a:xfrm>
            <a:off x="146700" y="110450"/>
            <a:ext cx="42228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ESCOLHA DAS FERRAMENTAS PREZA PELA</a:t>
            </a:r>
            <a:r>
              <a:rPr b="1"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CONSISTÊNCIA,</a:t>
            </a:r>
            <a:endParaRPr b="1" sz="29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MANUTENABILIDADE E ESCALA</a:t>
            </a:r>
            <a:endParaRPr b="1" sz="29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p25"/>
          <p:cNvSpPr txBox="1"/>
          <p:nvPr/>
        </p:nvSpPr>
        <p:spPr>
          <a:xfrm>
            <a:off x="6479521" y="4784969"/>
            <a:ext cx="259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364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Modelagem da solução</a:t>
            </a:r>
            <a:endParaRPr sz="800">
              <a:solidFill>
                <a:srgbClr val="00364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4719275" y="540000"/>
            <a:ext cx="41736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3641"/>
              </a:buClr>
              <a:buSzPts val="2000"/>
              <a:buChar char="●"/>
            </a:pPr>
            <a:r>
              <a:rPr b="1" lang="en" sz="2000">
                <a:solidFill>
                  <a:srgbClr val="003641"/>
                </a:solidFill>
              </a:rPr>
              <a:t>Python</a:t>
            </a:r>
            <a:endParaRPr b="1" sz="2000">
              <a:solidFill>
                <a:srgbClr val="00364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364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3641"/>
              </a:buClr>
              <a:buSzPts val="2000"/>
              <a:buChar char="●"/>
            </a:pPr>
            <a:r>
              <a:rPr b="1" lang="en" sz="2000">
                <a:solidFill>
                  <a:srgbClr val="003641"/>
                </a:solidFill>
              </a:rPr>
              <a:t>dbt</a:t>
            </a:r>
            <a:br>
              <a:rPr b="1" lang="en" sz="2000">
                <a:solidFill>
                  <a:srgbClr val="003641"/>
                </a:solidFill>
              </a:rPr>
            </a:br>
            <a:endParaRPr b="1" sz="2000">
              <a:solidFill>
                <a:srgbClr val="00364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3641"/>
              </a:buClr>
              <a:buSzPts val="2000"/>
              <a:buChar char="●"/>
            </a:pPr>
            <a:r>
              <a:rPr b="1" lang="en" sz="2000">
                <a:solidFill>
                  <a:srgbClr val="003641"/>
                </a:solidFill>
              </a:rPr>
              <a:t>PostgreSQL</a:t>
            </a:r>
            <a:br>
              <a:rPr b="1" lang="en" sz="2000">
                <a:solidFill>
                  <a:srgbClr val="003641"/>
                </a:solidFill>
              </a:rPr>
            </a:br>
            <a:endParaRPr b="1" sz="2000">
              <a:solidFill>
                <a:srgbClr val="00364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3641"/>
              </a:buClr>
              <a:buSzPts val="2000"/>
              <a:buChar char="●"/>
            </a:pPr>
            <a:r>
              <a:rPr b="1" lang="en" sz="2000">
                <a:solidFill>
                  <a:srgbClr val="003641"/>
                </a:solidFill>
              </a:rPr>
              <a:t>Docker</a:t>
            </a:r>
            <a:endParaRPr b="1" sz="2000">
              <a:solidFill>
                <a:srgbClr val="00364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364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3641"/>
              </a:buClr>
              <a:buSzPts val="2000"/>
              <a:buChar char="●"/>
            </a:pPr>
            <a:r>
              <a:rPr b="1" lang="en" sz="2000">
                <a:solidFill>
                  <a:srgbClr val="003641"/>
                </a:solidFill>
              </a:rPr>
              <a:t>DBeaver</a:t>
            </a:r>
            <a:endParaRPr b="1" sz="2000">
              <a:solidFill>
                <a:srgbClr val="00364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364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3641"/>
              </a:buClr>
              <a:buSzPts val="2000"/>
              <a:buChar char="●"/>
            </a:pPr>
            <a:r>
              <a:rPr b="1" lang="en" sz="2000">
                <a:solidFill>
                  <a:srgbClr val="003641"/>
                </a:solidFill>
              </a:rPr>
              <a:t>Claude Sonnet e GPT-4o</a:t>
            </a:r>
            <a:endParaRPr b="1" sz="2000">
              <a:solidFill>
                <a:srgbClr val="00364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/>
          <p:nvPr/>
        </p:nvSpPr>
        <p:spPr>
          <a:xfrm>
            <a:off x="-112" y="0"/>
            <a:ext cx="9144000" cy="741600"/>
          </a:xfrm>
          <a:prstGeom prst="rect">
            <a:avLst/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146700" y="110450"/>
            <a:ext cx="8755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ARQUITETURA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807425" y="1779850"/>
            <a:ext cx="1911900" cy="5145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BRONZE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07425" y="4295800"/>
            <a:ext cx="1911900" cy="25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data should be immutable. </a:t>
            </a:r>
            <a:endParaRPr sz="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3616050" y="1779850"/>
            <a:ext cx="1911900" cy="514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SILVER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424675" y="1779850"/>
            <a:ext cx="1911900" cy="5145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GOLD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26"/>
          <p:cNvSpPr/>
          <p:nvPr/>
        </p:nvSpPr>
        <p:spPr>
          <a:xfrm rot="-5400000">
            <a:off x="4480575" y="-2194118"/>
            <a:ext cx="155400" cy="7540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/>
          <p:nvPr/>
        </p:nvSpPr>
        <p:spPr>
          <a:xfrm>
            <a:off x="788025" y="986025"/>
            <a:ext cx="7540500" cy="38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Camadas Medalhão - Garantia de </a:t>
            </a:r>
            <a:r>
              <a:rPr lang="en" sz="1200">
                <a:solidFill>
                  <a:schemeClr val="dk2"/>
                </a:solidFill>
              </a:rPr>
              <a:t>governança</a:t>
            </a:r>
            <a:r>
              <a:rPr lang="en" sz="1200">
                <a:solidFill>
                  <a:schemeClr val="dk2"/>
                </a:solidFill>
              </a:rPr>
              <a:t> e processos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807425" y="2294350"/>
            <a:ext cx="1911900" cy="201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Idempotência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Rastreabilidade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Troubleshooting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Observabilidade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3616050" y="4295800"/>
            <a:ext cx="1911900" cy="25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Transform Data</a:t>
            </a:r>
            <a:endParaRPr sz="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3616050" y="2294350"/>
            <a:ext cx="1911900" cy="201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O tratamento das inconsistências isolado</a:t>
            </a:r>
            <a:endParaRPr sz="11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Limpeza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P</a:t>
            </a:r>
            <a:r>
              <a:rPr lang="en" sz="1100">
                <a:solidFill>
                  <a:schemeClr val="dk2"/>
                </a:solidFill>
              </a:rPr>
              <a:t>adronização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Deduplicação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Validação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6424675" y="4295800"/>
            <a:ext cx="1911900" cy="25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Analytics Layer</a:t>
            </a:r>
            <a:endParaRPr sz="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6424675" y="2294350"/>
            <a:ext cx="1911900" cy="201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KPIs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Agregações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" sz="1100">
                <a:solidFill>
                  <a:schemeClr val="dk2"/>
                </a:solidFill>
              </a:rPr>
              <a:t>Visão Analítica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6479521" y="4784969"/>
            <a:ext cx="259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364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Modelagem da solução</a:t>
            </a:r>
            <a:endParaRPr sz="800">
              <a:solidFill>
                <a:srgbClr val="00364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3616050" y="4045600"/>
            <a:ext cx="1911900" cy="25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stg_ </a:t>
            </a:r>
            <a:r>
              <a:rPr b="1" lang="en" sz="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prefix</a:t>
            </a:r>
            <a:endParaRPr b="1" sz="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6424675" y="4045600"/>
            <a:ext cx="1911900" cy="25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mart_ prefix</a:t>
            </a:r>
            <a:endParaRPr b="1" sz="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7" name="Google Shape;217;p26"/>
          <p:cNvCxnSpPr>
            <a:stCxn id="209" idx="3"/>
            <a:endCxn id="211" idx="1"/>
          </p:cNvCxnSpPr>
          <p:nvPr/>
        </p:nvCxnSpPr>
        <p:spPr>
          <a:xfrm>
            <a:off x="2719325" y="3303850"/>
            <a:ext cx="89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26"/>
          <p:cNvCxnSpPr>
            <a:stCxn id="211" idx="3"/>
            <a:endCxn id="213" idx="1"/>
          </p:cNvCxnSpPr>
          <p:nvPr/>
        </p:nvCxnSpPr>
        <p:spPr>
          <a:xfrm>
            <a:off x="5527950" y="3303850"/>
            <a:ext cx="89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-112" y="0"/>
            <a:ext cx="9144000" cy="741600"/>
          </a:xfrm>
          <a:prstGeom prst="rect">
            <a:avLst/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7"/>
          <p:cNvSpPr txBox="1"/>
          <p:nvPr/>
        </p:nvSpPr>
        <p:spPr>
          <a:xfrm>
            <a:off x="146700" y="110450"/>
            <a:ext cx="7785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CICLO DE VIDA DOS DADOS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5" name="Google Shape;225;p27"/>
          <p:cNvSpPr txBox="1"/>
          <p:nvPr/>
        </p:nvSpPr>
        <p:spPr>
          <a:xfrm>
            <a:off x="6479521" y="4784969"/>
            <a:ext cx="259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364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Modelagem da solução</a:t>
            </a:r>
            <a:endParaRPr sz="800">
              <a:solidFill>
                <a:srgbClr val="00364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267713" y="1949408"/>
            <a:ext cx="1803900" cy="514500"/>
          </a:xfrm>
          <a:prstGeom prst="rect">
            <a:avLst/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Python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2535938" y="1949408"/>
            <a:ext cx="1803900" cy="514500"/>
          </a:xfrm>
          <a:prstGeom prst="rect">
            <a:avLst/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dbt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4804164" y="1949408"/>
            <a:ext cx="1803900" cy="514500"/>
          </a:xfrm>
          <a:prstGeom prst="rect">
            <a:avLst/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PostgreSQL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7072389" y="1949408"/>
            <a:ext cx="1803900" cy="514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0" name="Google Shape;230;p27"/>
          <p:cNvSpPr/>
          <p:nvPr/>
        </p:nvSpPr>
        <p:spPr>
          <a:xfrm>
            <a:off x="7072389" y="1210558"/>
            <a:ext cx="1803900" cy="514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Science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7072389" y="2688258"/>
            <a:ext cx="1803900" cy="514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 AI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32" name="Google Shape;232;p27"/>
          <p:cNvCxnSpPr>
            <a:stCxn id="228" idx="3"/>
            <a:endCxn id="230" idx="1"/>
          </p:cNvCxnSpPr>
          <p:nvPr/>
        </p:nvCxnSpPr>
        <p:spPr>
          <a:xfrm flipH="1" rot="10800000">
            <a:off x="6608064" y="1467758"/>
            <a:ext cx="464400" cy="73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27"/>
          <p:cNvCxnSpPr>
            <a:stCxn id="228" idx="3"/>
            <a:endCxn id="229" idx="1"/>
          </p:cNvCxnSpPr>
          <p:nvPr/>
        </p:nvCxnSpPr>
        <p:spPr>
          <a:xfrm>
            <a:off x="6608064" y="2206658"/>
            <a:ext cx="46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27"/>
          <p:cNvCxnSpPr>
            <a:stCxn id="228" idx="3"/>
            <a:endCxn id="231" idx="1"/>
          </p:cNvCxnSpPr>
          <p:nvPr/>
        </p:nvCxnSpPr>
        <p:spPr>
          <a:xfrm>
            <a:off x="6608064" y="2206658"/>
            <a:ext cx="464400" cy="73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7"/>
          <p:cNvCxnSpPr>
            <a:stCxn id="226" idx="3"/>
            <a:endCxn id="227" idx="1"/>
          </p:cNvCxnSpPr>
          <p:nvPr/>
        </p:nvCxnSpPr>
        <p:spPr>
          <a:xfrm>
            <a:off x="2071613" y="2206658"/>
            <a:ext cx="46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27"/>
          <p:cNvCxnSpPr>
            <a:stCxn id="227" idx="3"/>
            <a:endCxn id="228" idx="1"/>
          </p:cNvCxnSpPr>
          <p:nvPr/>
        </p:nvCxnSpPr>
        <p:spPr>
          <a:xfrm>
            <a:off x="4339838" y="2206658"/>
            <a:ext cx="46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27"/>
          <p:cNvSpPr/>
          <p:nvPr/>
        </p:nvSpPr>
        <p:spPr>
          <a:xfrm>
            <a:off x="267725" y="2463908"/>
            <a:ext cx="1803900" cy="98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Entrada dos dados e alocação na camada </a:t>
            </a:r>
            <a:r>
              <a:rPr b="1" lang="en" sz="1100">
                <a:solidFill>
                  <a:schemeClr val="dk2"/>
                </a:solidFill>
              </a:rPr>
              <a:t>raw</a:t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2535950" y="2463908"/>
            <a:ext cx="1803900" cy="98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Tratativa dos dados em SQL e adição de regras de negócio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4804175" y="2451858"/>
            <a:ext cx="1803900" cy="98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Armazenamento e interface dos dados para que seja oferecidas as áreas de negócio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4804175" y="3428420"/>
            <a:ext cx="1803900" cy="15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(Execução em Docker*)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2535950" y="3451208"/>
            <a:ext cx="1803900" cy="98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Escolha pautada no fato de ser uma ferramenta que já possui uma série de artefatos para construir uma arquitetura escalável, com boa </a:t>
            </a:r>
            <a:r>
              <a:rPr lang="en" sz="600">
                <a:solidFill>
                  <a:schemeClr val="dk2"/>
                </a:solidFill>
              </a:rPr>
              <a:t>observabilidad</a:t>
            </a:r>
            <a:r>
              <a:rPr lang="en" sz="600">
                <a:solidFill>
                  <a:schemeClr val="dk2"/>
                </a:solidFill>
              </a:rPr>
              <a:t> e possui ferramentas integradas que facilitam testes entre outros tópicos.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267725" y="3451208"/>
            <a:ext cx="1803900" cy="51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Python é flexível, possui diversas ferramentas para trabalhar com dados e manter infraestruturas de dados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243" name="Google Shape;243;p27"/>
          <p:cNvSpPr txBox="1"/>
          <p:nvPr/>
        </p:nvSpPr>
        <p:spPr>
          <a:xfrm>
            <a:off x="7106" y="4720547"/>
            <a:ext cx="627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Observação: Pela solução ter sido inspirada em pipelines modernos, os DDLs não cobrem relacionamentos. Para validação mais detalhada da integridade referencial do banco, o DBT possui ferramentas como a “relationships” para realizar testes em cima disso.</a:t>
            </a:r>
            <a:endParaRPr sz="800">
              <a:solidFill>
                <a:schemeClr val="dk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/>
          <p:nvPr/>
        </p:nvSpPr>
        <p:spPr>
          <a:xfrm>
            <a:off x="-113" y="0"/>
            <a:ext cx="9144000" cy="5143500"/>
          </a:xfrm>
          <a:prstGeom prst="rect">
            <a:avLst/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/>
          <p:cNvSpPr txBox="1"/>
          <p:nvPr/>
        </p:nvSpPr>
        <p:spPr>
          <a:xfrm>
            <a:off x="6479521" y="4784969"/>
            <a:ext cx="259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Resolvendo o problema</a:t>
            </a:r>
            <a:endParaRPr sz="8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0" name="Google Shape;250;p28"/>
          <p:cNvSpPr txBox="1"/>
          <p:nvPr/>
        </p:nvSpPr>
        <p:spPr>
          <a:xfrm>
            <a:off x="498750" y="2033100"/>
            <a:ext cx="8146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APRESENTAÇÃO DO FUNCIONAMENTO DO PROJETO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/>
          <p:nvPr/>
        </p:nvSpPr>
        <p:spPr>
          <a:xfrm>
            <a:off x="-100" y="0"/>
            <a:ext cx="4572000" cy="5143500"/>
          </a:xfrm>
          <a:prstGeom prst="rect">
            <a:avLst/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9"/>
          <p:cNvSpPr txBox="1"/>
          <p:nvPr/>
        </p:nvSpPr>
        <p:spPr>
          <a:xfrm>
            <a:off x="6479521" y="4784969"/>
            <a:ext cx="259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364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Insights Finais</a:t>
            </a:r>
            <a:endParaRPr sz="800">
              <a:solidFill>
                <a:srgbClr val="00364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7" name="Google Shape;257;p29"/>
          <p:cNvSpPr txBox="1"/>
          <p:nvPr/>
        </p:nvSpPr>
        <p:spPr>
          <a:xfrm>
            <a:off x="224305" y="143975"/>
            <a:ext cx="412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ESSE PROJETO FOSSE PARA PRODUÇÃO </a:t>
            </a:r>
            <a:r>
              <a:rPr b="1"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PODERÍAMOS</a:t>
            </a:r>
            <a:r>
              <a:rPr b="1"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PENSAR NOS SEGUINTES ASPECTOS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8" name="Google Shape;258;p29"/>
          <p:cNvSpPr txBox="1"/>
          <p:nvPr/>
        </p:nvSpPr>
        <p:spPr>
          <a:xfrm>
            <a:off x="224305" y="869447"/>
            <a:ext cx="412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Negócios</a:t>
            </a: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p29"/>
          <p:cNvSpPr txBox="1"/>
          <p:nvPr/>
        </p:nvSpPr>
        <p:spPr>
          <a:xfrm>
            <a:off x="199100" y="1326472"/>
            <a:ext cx="4173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Ranking de cooperados e clientes: Bonificação e programas de incentivo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Previsão de demanda: Data Science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Análises comerciais avançadas, como churn, RFM, segmentações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0" name="Google Shape;260;p29"/>
          <p:cNvSpPr txBox="1"/>
          <p:nvPr/>
        </p:nvSpPr>
        <p:spPr>
          <a:xfrm>
            <a:off x="4754075" y="1326472"/>
            <a:ext cx="4173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3641"/>
              </a:buClr>
              <a:buSzPts val="1400"/>
              <a:buChar char="●"/>
            </a:pPr>
            <a:r>
              <a:rPr lang="en">
                <a:solidFill>
                  <a:srgbClr val="003641"/>
                </a:solidFill>
              </a:rPr>
              <a:t>Carga Incremental</a:t>
            </a:r>
            <a:endParaRPr>
              <a:solidFill>
                <a:srgbClr val="00364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64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3641"/>
              </a:buClr>
              <a:buSzPts val="1400"/>
              <a:buChar char="●"/>
            </a:pPr>
            <a:r>
              <a:rPr lang="en">
                <a:solidFill>
                  <a:srgbClr val="003641"/>
                </a:solidFill>
              </a:rPr>
              <a:t>Conectar os dados da camada Gold a uma ferramenta de BI</a:t>
            </a:r>
            <a:endParaRPr>
              <a:solidFill>
                <a:srgbClr val="00364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64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3641"/>
              </a:buClr>
              <a:buSzPts val="1400"/>
              <a:buChar char="●"/>
            </a:pPr>
            <a:r>
              <a:rPr lang="en">
                <a:solidFill>
                  <a:srgbClr val="003641"/>
                </a:solidFill>
              </a:rPr>
              <a:t>Sistema interno de padronização de entrada de dados</a:t>
            </a:r>
            <a:endParaRPr>
              <a:solidFill>
                <a:srgbClr val="003641"/>
              </a:solidFill>
            </a:endParaRPr>
          </a:p>
        </p:txBody>
      </p:sp>
      <p:sp>
        <p:nvSpPr>
          <p:cNvPr id="261" name="Google Shape;261;p29"/>
          <p:cNvSpPr txBox="1"/>
          <p:nvPr/>
        </p:nvSpPr>
        <p:spPr>
          <a:xfrm>
            <a:off x="4779280" y="869447"/>
            <a:ext cx="412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Técnicos</a:t>
            </a:r>
            <a:endParaRPr sz="1200">
              <a:solidFill>
                <a:srgbClr val="00364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0"/>
          <p:cNvSpPr txBox="1"/>
          <p:nvPr/>
        </p:nvSpPr>
        <p:spPr>
          <a:xfrm>
            <a:off x="6479521" y="4784969"/>
            <a:ext cx="259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364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Insights Finais</a:t>
            </a:r>
            <a:endParaRPr sz="800">
              <a:solidFill>
                <a:srgbClr val="00364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146700" y="110450"/>
            <a:ext cx="77853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 u="sng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SEGURANÇA DE DADOS</a:t>
            </a:r>
            <a:r>
              <a:rPr b="1" lang="en" sz="29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GARANTIA </a:t>
            </a:r>
            <a:r>
              <a:rPr lang="en" sz="29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 CONFIANÇA POR </a:t>
            </a:r>
            <a:r>
              <a:rPr b="1" lang="en" sz="29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PARTE DO CLIENTE E DO COOPERADO. </a:t>
            </a:r>
            <a:r>
              <a:rPr lang="en" sz="29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ALÉM DE </a:t>
            </a:r>
            <a:r>
              <a:rPr b="1" lang="en" sz="2900">
                <a:solidFill>
                  <a:srgbClr val="00364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CONFIANÇA NO PRÓPRIO PROCESSO.</a:t>
            </a:r>
            <a:endParaRPr sz="1100">
              <a:solidFill>
                <a:srgbClr val="00364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8" name="Google Shape;268;p30"/>
          <p:cNvSpPr/>
          <p:nvPr/>
        </p:nvSpPr>
        <p:spPr>
          <a:xfrm>
            <a:off x="1097450" y="2346700"/>
            <a:ext cx="1803900" cy="1061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Variáveis de Ambiente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9" name="Google Shape;269;p30"/>
          <p:cNvSpPr/>
          <p:nvPr/>
        </p:nvSpPr>
        <p:spPr>
          <a:xfrm>
            <a:off x="3670050" y="2346700"/>
            <a:ext cx="1803900" cy="1061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Definição de Roles de acesso no banco de dados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30"/>
          <p:cNvSpPr/>
          <p:nvPr/>
        </p:nvSpPr>
        <p:spPr>
          <a:xfrm>
            <a:off x="6242650" y="2346700"/>
            <a:ext cx="1803900" cy="1061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Criptografía</a:t>
            </a: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dados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1" name="Google Shape;271;p30"/>
          <p:cNvSpPr/>
          <p:nvPr/>
        </p:nvSpPr>
        <p:spPr>
          <a:xfrm>
            <a:off x="2407575" y="3674550"/>
            <a:ext cx="1803900" cy="1061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Habilitar pg_audit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2" name="Google Shape;272;p30"/>
          <p:cNvSpPr/>
          <p:nvPr/>
        </p:nvSpPr>
        <p:spPr>
          <a:xfrm>
            <a:off x="4954550" y="3674550"/>
            <a:ext cx="1803900" cy="1061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Backup Automatizado</a:t>
            </a:r>
            <a:endParaRPr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1"/>
          <p:cNvSpPr/>
          <p:nvPr/>
        </p:nvSpPr>
        <p:spPr>
          <a:xfrm>
            <a:off x="-113" y="0"/>
            <a:ext cx="9144000" cy="5143500"/>
          </a:xfrm>
          <a:prstGeom prst="rect">
            <a:avLst/>
          </a:prstGeom>
          <a:solidFill>
            <a:srgbClr val="0036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1"/>
          <p:cNvSpPr txBox="1"/>
          <p:nvPr/>
        </p:nvSpPr>
        <p:spPr>
          <a:xfrm>
            <a:off x="290375" y="266950"/>
            <a:ext cx="31167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OBRIGADO!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9" name="Google Shape;279;p31"/>
          <p:cNvSpPr txBox="1"/>
          <p:nvPr/>
        </p:nvSpPr>
        <p:spPr>
          <a:xfrm>
            <a:off x="5211075" y="4602800"/>
            <a:ext cx="387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EDUARDO BRAGA BONFIM</a:t>
            </a:r>
            <a:endParaRPr sz="1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14/05/2026</a:t>
            </a:r>
            <a:endParaRPr sz="1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0" name="Google Shape;280;p31"/>
          <p:cNvSpPr txBox="1"/>
          <p:nvPr/>
        </p:nvSpPr>
        <p:spPr>
          <a:xfrm>
            <a:off x="290375" y="898150"/>
            <a:ext cx="387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 PARA O REPOSITÓRIO NO GITHUB: </a:t>
            </a:r>
            <a:r>
              <a:rPr lang="en" sz="10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https://github.com/ebbonfimm/case_sicoob_coopllactia</a:t>
            </a:r>
            <a:endParaRPr sz="1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