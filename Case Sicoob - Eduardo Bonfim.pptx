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</p:sldIdLst>
  <p:sldSz cy="5143500" cx="9144000"/>
  <p:notesSz cx="6858000" cy="9144000"/>
  <p:embeddedFontLst>
    <p:embeddedFont>
      <p:font typeface="Helvetica Neue"/>
      <p:regular r:id="rId25"/>
      <p:bold r:id="rId26"/>
      <p:italic r:id="rId27"/>
      <p:boldItalic r:id="rId28"/>
    </p:embeddedFont>
    <p:embeddedFont>
      <p:font typeface="Helvetica Neue Light"/>
      <p:regular r:id="rId29"/>
      <p:bold r:id="rId30"/>
      <p:italic r:id="rId31"/>
      <p:boldItalic r:id="rId32"/>
    </p:embeddedFont>
    <p:embeddedFont>
      <p:font typeface="Roboto Mono"/>
      <p:regular r:id="rId33"/>
      <p:bold r:id="rId34"/>
      <p:italic r:id="rId35"/>
      <p:boldItalic r:id="rId3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HelveticaNeue-bold.fntdata"/><Relationship Id="rId25" Type="http://schemas.openxmlformats.org/officeDocument/2006/relationships/font" Target="fonts/HelveticaNeue-regular.fntdata"/><Relationship Id="rId28" Type="http://schemas.openxmlformats.org/officeDocument/2006/relationships/font" Target="fonts/HelveticaNeue-boldItalic.fntdata"/><Relationship Id="rId27" Type="http://schemas.openxmlformats.org/officeDocument/2006/relationships/font" Target="fonts/HelveticaNeue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HelveticaNeueLight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HelveticaNeueLight-italic.fntdata"/><Relationship Id="rId30" Type="http://schemas.openxmlformats.org/officeDocument/2006/relationships/font" Target="fonts/HelveticaNeueLight-bold.fntdata"/><Relationship Id="rId11" Type="http://schemas.openxmlformats.org/officeDocument/2006/relationships/slide" Target="slides/slide6.xml"/><Relationship Id="rId33" Type="http://schemas.openxmlformats.org/officeDocument/2006/relationships/font" Target="fonts/RobotoMono-regular.fntdata"/><Relationship Id="rId10" Type="http://schemas.openxmlformats.org/officeDocument/2006/relationships/slide" Target="slides/slide5.xml"/><Relationship Id="rId32" Type="http://schemas.openxmlformats.org/officeDocument/2006/relationships/font" Target="fonts/HelveticaNeueLight-boldItalic.fntdata"/><Relationship Id="rId13" Type="http://schemas.openxmlformats.org/officeDocument/2006/relationships/slide" Target="slides/slide8.xml"/><Relationship Id="rId35" Type="http://schemas.openxmlformats.org/officeDocument/2006/relationships/font" Target="fonts/RobotoMono-italic.fntdata"/><Relationship Id="rId12" Type="http://schemas.openxmlformats.org/officeDocument/2006/relationships/slide" Target="slides/slide7.xml"/><Relationship Id="rId34" Type="http://schemas.openxmlformats.org/officeDocument/2006/relationships/font" Target="fonts/RobotoMono-bold.fntdata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36" Type="http://schemas.openxmlformats.org/officeDocument/2006/relationships/font" Target="fonts/RobotoMono-boldItalic.fntdata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e1c041772f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e1c041772f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e1c041772f_0_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e1c041772f_0_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e1cfdb211b_0_1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e1cfdb211b_0_1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chemeClr val="dk1"/>
                </a:solidFill>
                <a:highlight>
                  <a:srgbClr val="FFFFFF"/>
                </a:highlight>
              </a:rPr>
              <a:t>Nos últimos anos, a cooperativa cresceu em volume de operações, número de cooperados,</a:t>
            </a:r>
            <a:endParaRPr sz="12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chemeClr val="dk1"/>
                </a:solidFill>
                <a:highlight>
                  <a:srgbClr val="FFFFFF"/>
                </a:highlight>
              </a:rPr>
              <a:t>variedade de produtos e abrangência logística. Com isso, os dados passaram a surgir de</a:t>
            </a:r>
            <a:endParaRPr sz="12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highlight>
                  <a:srgbClr val="FFFFFF"/>
                </a:highlight>
              </a:rPr>
              <a:t>diferentes frentes do negócio, sem padronização adequada e com pouca governança.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e1c041772f_0_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e1c041772f_0_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e1c041772f_0_1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e1c041772f_0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e1c041772f_0_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e1c041772f_0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e1c041772f_0_1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e1c041772f_0_1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e1cfdb211b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e1cfdb211b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e1cfdb211b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e1cfdb211b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cooperados</a:t>
            </a:r>
            <a:r>
              <a:rPr lang="en">
                <a:solidFill>
                  <a:schemeClr val="dk1"/>
                </a:solidFill>
              </a:rPr>
              <a:t> — quem é a pessoa ou empresa associada à cooperativa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id_cooperado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nome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cpf_cnpj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data_adesao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situacao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Problemas: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situacao</a:t>
            </a:r>
            <a:r>
              <a:rPr lang="en">
                <a:solidFill>
                  <a:schemeClr val="dk1"/>
                </a:solidFill>
              </a:rPr>
              <a:t> com capitalização inconsistente, datas mal formatadas, duplicatas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fazendas</a:t>
            </a:r>
            <a:r>
              <a:rPr lang="en">
                <a:solidFill>
                  <a:schemeClr val="dk1"/>
                </a:solidFill>
              </a:rPr>
              <a:t> — as propriedades pertencentes a um cooperado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id_fazenda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id_cooperado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nome_fazenda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municipio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area_hectares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qtd_animais_lactacao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raca_predominante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Problemas: nulos em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area_hectares</a:t>
            </a:r>
            <a:r>
              <a:rPr lang="en">
                <a:solidFill>
                  <a:schemeClr val="dk1"/>
                </a:solidFill>
              </a:rPr>
              <a:t>, capitalização inconsistente em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raca_predominante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coletas</a:t>
            </a:r>
            <a:r>
              <a:rPr lang="en">
                <a:solidFill>
                  <a:schemeClr val="dk1"/>
                </a:solidFill>
              </a:rPr>
              <a:t> — registro diário do volume de leite coletado em cada fazenda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id_coleta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id_fazenda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id_rota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data_coleta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volume_litros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temperatura_c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gordura_pct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proteina_pct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acidez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Problemas: volume negativo, datas mal formatadas, nulos em campos de qualidade do leite, duplicatas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rotas</a:t>
            </a:r>
            <a:r>
              <a:rPr lang="en">
                <a:solidFill>
                  <a:schemeClr val="dk1"/>
                </a:solidFill>
              </a:rPr>
              <a:t> — os trajetos utilizados para coleta e entrega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id_rota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nome_rota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municipio_origem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km_total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veiculo_tipo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ativa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Sem problemas graves — tabela pequena e estável.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produtos</a:t>
            </a:r>
            <a:r>
              <a:rPr lang="en">
                <a:solidFill>
                  <a:schemeClr val="dk1"/>
                </a:solidFill>
              </a:rPr>
              <a:t> — catálogo de produtos fabricados pela cooperativa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id_produto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nome_produto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categoria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unidade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preco_venda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custo_unitario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ativo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Problemas: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preco_venda</a:t>
            </a:r>
            <a:r>
              <a:rPr lang="en">
                <a:solidFill>
                  <a:schemeClr val="dk1"/>
                </a:solidFill>
              </a:rPr>
              <a:t> zerado em alguns registros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producao</a:t>
            </a:r>
            <a:r>
              <a:rPr lang="en">
                <a:solidFill>
                  <a:schemeClr val="dk1"/>
                </a:solidFill>
              </a:rPr>
              <a:t> — ordens de produção na planta industrial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id_producao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id_produto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data_producao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linha_producao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volume_entrada_litros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volume_saida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custo_total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lote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validade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Problemas: capitalização inconsistente em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linha_producao</a:t>
            </a:r>
            <a:r>
              <a:rPr lang="en">
                <a:solidFill>
                  <a:schemeClr val="dk1"/>
                </a:solidFill>
              </a:rPr>
              <a:t>, nulos em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custo_total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clientes</a:t>
            </a:r>
            <a:r>
              <a:rPr lang="en">
                <a:solidFill>
                  <a:schemeClr val="dk1"/>
                </a:solidFill>
              </a:rPr>
              <a:t> — empresas ou pessoas que compram os produtos da cooperativa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id_cliente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nome_cliente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segmento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estado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cidade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cnpj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ativo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Problemas: nulos em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cidade</a:t>
            </a:r>
            <a:r>
              <a:rPr lang="en">
                <a:solidFill>
                  <a:schemeClr val="dk1"/>
                </a:solidFill>
              </a:rPr>
              <a:t> e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cnpj</a:t>
            </a:r>
            <a:r>
              <a:rPr lang="en">
                <a:solidFill>
                  <a:schemeClr val="dk1"/>
                </a:solidFill>
              </a:rPr>
              <a:t>, capitalização inconsistente em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segmento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pedidos</a:t>
            </a:r>
            <a:r>
              <a:rPr lang="en">
                <a:solidFill>
                  <a:schemeClr val="dk1"/>
                </a:solidFill>
              </a:rPr>
              <a:t> — cabeçalho de cada pedido de venda realizado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id_pedido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id_cliente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data_pedido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status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canal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desconto_pct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Problemas: duplicatas, datas mal formatadas, capitalização inconsistente em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status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itens_pedido</a:t>
            </a:r>
            <a:r>
              <a:rPr lang="en">
                <a:solidFill>
                  <a:schemeClr val="dk1"/>
                </a:solidFill>
              </a:rPr>
              <a:t> — os produtos dentro de cada pedido, com quantidade e preço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id_item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id_pedido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id_produto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quantidade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preco_unitario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valor_total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Problemas: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preco_unitario</a:t>
            </a:r>
            <a:r>
              <a:rPr lang="en">
                <a:solidFill>
                  <a:schemeClr val="dk1"/>
                </a:solidFill>
              </a:rPr>
              <a:t> negativo em alguns registros,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valor_total</a:t>
            </a:r>
            <a:r>
              <a:rPr lang="en">
                <a:solidFill>
                  <a:schemeClr val="dk1"/>
                </a:solidFill>
              </a:rPr>
              <a:t> nulo (será imputado depois)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entregas</a:t>
            </a:r>
            <a:r>
              <a:rPr lang="en">
                <a:solidFill>
                  <a:schemeClr val="dk1"/>
                </a:solidFill>
              </a:rPr>
              <a:t> — execução logística de cada pedido, com prazo e custo de frete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id_entrega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id_pedido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id_rota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data_prevista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data_realizada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status_entrega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km_percorrido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custo_frete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ocorrencia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Problemas: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data_realizada</a:t>
            </a:r>
            <a:r>
              <a:rPr lang="en">
                <a:solidFill>
                  <a:schemeClr val="dk1"/>
                </a:solidFill>
              </a:rPr>
              <a:t> nula para entregas pendentes, datas mal formatadas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custos_operacionais</a:t>
            </a:r>
            <a:r>
              <a:rPr lang="en">
                <a:solidFill>
                  <a:schemeClr val="dk1"/>
                </a:solidFill>
              </a:rPr>
              <a:t> — custos fixos e variáveis registrados por centro de custo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id_custo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centro_custo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tipo_custo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descricao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valor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data_referencia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competencia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Problemas: capitalização inconsistente em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tipo_custo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perdas</a:t>
            </a:r>
            <a:r>
              <a:rPr lang="en">
                <a:solidFill>
                  <a:schemeClr val="dk1"/>
                </a:solidFill>
              </a:rPr>
              <a:t> — ocorrências de perda de volume ou valor em qualquer etapa da cadeia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id_perda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etapa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tipo_perda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data_perda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volume_litros_ou_kg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valor_estimado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id_cooperado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id_producao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id_entrega</a:t>
            </a:r>
            <a:r>
              <a:rPr lang="en">
                <a:solidFill>
                  <a:schemeClr val="dk1"/>
                </a:solidFill>
              </a:rPr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descricao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Problemas: os três IDs são opcionais dependendo da etapa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e1cfdb211b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e1cfdb211b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e1cfdb211b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e1cfdb211b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e1cfdb211b_0_1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e1cfdb211b_0_1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e1cfdb211b_0_1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e1cfdb211b_0_1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e1cfdb211b_0_2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e1cfdb211b_0_2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e1f72349ba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e1f72349ba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3e1f72349ba_0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8" name="Google Shape;248;g3e1f72349ba_0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e1f72349ba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3e1f72349ba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e1f72349ba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e1f72349ba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51435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5374525" y="1039600"/>
            <a:ext cx="3116700" cy="14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900">
                <a:solidFill>
                  <a:srgbClr val="434343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COOPLLACTIA COOP LTDA</a:t>
            </a:r>
            <a:endParaRPr b="1" sz="2900">
              <a:solidFill>
                <a:srgbClr val="434343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00364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CASE PRÁTICO - SICOOB CREDICOM</a:t>
            </a:r>
            <a:endParaRPr sz="1100">
              <a:solidFill>
                <a:srgbClr val="00364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5211075" y="4602800"/>
            <a:ext cx="38772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364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EDUARDO BRAGA BONFIM</a:t>
            </a:r>
            <a:endParaRPr sz="1000">
              <a:solidFill>
                <a:srgbClr val="00364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34343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14/05/2026</a:t>
            </a:r>
            <a:endParaRPr sz="1000">
              <a:solidFill>
                <a:srgbClr val="434343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57" name="Google Shape;57;p13"/>
          <p:cNvSpPr/>
          <p:nvPr/>
        </p:nvSpPr>
        <p:spPr>
          <a:xfrm>
            <a:off x="5132603" y="0"/>
            <a:ext cx="67500" cy="5143500"/>
          </a:xfrm>
          <a:prstGeom prst="rect">
            <a:avLst/>
          </a:prstGeom>
          <a:solidFill>
            <a:srgbClr val="00364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/>
          <p:nvPr/>
        </p:nvSpPr>
        <p:spPr>
          <a:xfrm>
            <a:off x="-132" y="0"/>
            <a:ext cx="3293100" cy="5143500"/>
          </a:xfrm>
          <a:prstGeom prst="rect">
            <a:avLst/>
          </a:prstGeom>
          <a:solidFill>
            <a:srgbClr val="00364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340000" y="331300"/>
            <a:ext cx="3116700" cy="19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9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SOBRE O QUE VAMOS CONVERSAR HOJE?</a:t>
            </a:r>
            <a:endParaRPr sz="11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64" name="Google Shape;64;p14"/>
          <p:cNvSpPr txBox="1"/>
          <p:nvPr/>
        </p:nvSpPr>
        <p:spPr>
          <a:xfrm>
            <a:off x="4197650" y="540000"/>
            <a:ext cx="4173600" cy="40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3641"/>
              </a:buClr>
              <a:buSzPts val="1400"/>
              <a:buChar char="●"/>
            </a:pPr>
            <a:r>
              <a:rPr b="1" lang="en">
                <a:solidFill>
                  <a:srgbClr val="003641"/>
                </a:solidFill>
              </a:rPr>
              <a:t>Entendimento do problema:</a:t>
            </a:r>
            <a:r>
              <a:rPr lang="en">
                <a:solidFill>
                  <a:srgbClr val="003641"/>
                </a:solidFill>
              </a:rPr>
              <a:t> </a:t>
            </a:r>
            <a:r>
              <a:rPr lang="en">
                <a:solidFill>
                  <a:srgbClr val="434343"/>
                </a:solidFill>
              </a:rPr>
              <a:t>Fase Inicial, desenho, pesquisas e questionamentos</a:t>
            </a:r>
            <a:endParaRPr>
              <a:solidFill>
                <a:srgbClr val="434343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364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3641"/>
              </a:buClr>
              <a:buSzPts val="1400"/>
              <a:buChar char="●"/>
            </a:pPr>
            <a:r>
              <a:rPr b="1" lang="en">
                <a:solidFill>
                  <a:srgbClr val="003641"/>
                </a:solidFill>
              </a:rPr>
              <a:t>Quais são os principais pontos que contribuem para o crescimento do negócio?:</a:t>
            </a:r>
            <a:r>
              <a:rPr lang="en">
                <a:solidFill>
                  <a:srgbClr val="003641"/>
                </a:solidFill>
              </a:rPr>
              <a:t> </a:t>
            </a:r>
            <a:r>
              <a:rPr lang="en">
                <a:solidFill>
                  <a:srgbClr val="434343"/>
                </a:solidFill>
              </a:rPr>
              <a:t>Perguntas fundamentais, quais análises estamos buscando e quais dados responderão as perguntas.</a:t>
            </a:r>
            <a:endParaRPr>
              <a:solidFill>
                <a:srgbClr val="434343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364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3641"/>
              </a:buClr>
              <a:buSzPts val="1400"/>
              <a:buChar char="●"/>
            </a:pPr>
            <a:r>
              <a:rPr b="1" lang="en">
                <a:solidFill>
                  <a:srgbClr val="003641"/>
                </a:solidFill>
              </a:rPr>
              <a:t>Modelagem do problema: </a:t>
            </a:r>
            <a:r>
              <a:rPr lang="en">
                <a:solidFill>
                  <a:srgbClr val="434343"/>
                </a:solidFill>
              </a:rPr>
              <a:t>Modelagem do banco, ferramentas envolvidas no projeto</a:t>
            </a:r>
            <a:endParaRPr>
              <a:solidFill>
                <a:srgbClr val="434343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364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3641"/>
              </a:buClr>
              <a:buSzPts val="1400"/>
              <a:buChar char="●"/>
            </a:pPr>
            <a:r>
              <a:rPr b="1" lang="en">
                <a:solidFill>
                  <a:srgbClr val="003641"/>
                </a:solidFill>
              </a:rPr>
              <a:t>Resolvendo o problema:</a:t>
            </a:r>
            <a:r>
              <a:rPr lang="en">
                <a:solidFill>
                  <a:srgbClr val="003641"/>
                </a:solidFill>
              </a:rPr>
              <a:t> </a:t>
            </a:r>
            <a:r>
              <a:rPr lang="en">
                <a:solidFill>
                  <a:srgbClr val="434343"/>
                </a:solidFill>
              </a:rPr>
              <a:t>Assista o projeto funcionando na prática</a:t>
            </a:r>
            <a:endParaRPr>
              <a:solidFill>
                <a:srgbClr val="434343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364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3641"/>
              </a:buClr>
              <a:buSzPts val="1400"/>
              <a:buChar char="●"/>
            </a:pPr>
            <a:r>
              <a:rPr b="1" lang="en">
                <a:solidFill>
                  <a:srgbClr val="003641"/>
                </a:solidFill>
              </a:rPr>
              <a:t>Insights finais:</a:t>
            </a:r>
            <a:r>
              <a:rPr lang="en">
                <a:solidFill>
                  <a:srgbClr val="003641"/>
                </a:solidFill>
              </a:rPr>
              <a:t> </a:t>
            </a:r>
            <a:r>
              <a:rPr lang="en">
                <a:solidFill>
                  <a:srgbClr val="434343"/>
                </a:solidFill>
              </a:rPr>
              <a:t>O que descobrimos com tudo isso e quais serão os próximos passos?</a:t>
            </a:r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5"/>
          <p:cNvSpPr/>
          <p:nvPr/>
        </p:nvSpPr>
        <p:spPr>
          <a:xfrm>
            <a:off x="-113" y="0"/>
            <a:ext cx="9144000" cy="5143500"/>
          </a:xfrm>
          <a:prstGeom prst="rect">
            <a:avLst/>
          </a:prstGeom>
          <a:solidFill>
            <a:srgbClr val="00364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15"/>
          <p:cNvSpPr txBox="1"/>
          <p:nvPr/>
        </p:nvSpPr>
        <p:spPr>
          <a:xfrm>
            <a:off x="5755950" y="3829325"/>
            <a:ext cx="3116700" cy="10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9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VAMOS EM FRENTE!</a:t>
            </a:r>
            <a:endParaRPr sz="11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3641"/>
        </a:solidFill>
      </p:bgPr>
    </p:bg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/>
          <p:nvPr/>
        </p:nvSpPr>
        <p:spPr>
          <a:xfrm>
            <a:off x="-132" y="0"/>
            <a:ext cx="32931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16"/>
          <p:cNvSpPr txBox="1"/>
          <p:nvPr/>
        </p:nvSpPr>
        <p:spPr>
          <a:xfrm>
            <a:off x="200697" y="331300"/>
            <a:ext cx="3116700" cy="10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900">
                <a:solidFill>
                  <a:srgbClr val="00364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CRESCEMOS…</a:t>
            </a:r>
            <a:endParaRPr b="1" sz="2900">
              <a:solidFill>
                <a:srgbClr val="00364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900">
                <a:solidFill>
                  <a:srgbClr val="00364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 AGORA?</a:t>
            </a:r>
            <a:endParaRPr b="1" sz="2900">
              <a:solidFill>
                <a:srgbClr val="00364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7" name="Google Shape;77;p16"/>
          <p:cNvSpPr txBox="1"/>
          <p:nvPr/>
        </p:nvSpPr>
        <p:spPr>
          <a:xfrm>
            <a:off x="4197650" y="540000"/>
            <a:ext cx="4173600" cy="341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lang="en">
                <a:solidFill>
                  <a:schemeClr val="lt1"/>
                </a:solidFill>
              </a:rPr>
              <a:t>Aumento no números de cooperados, refletindo em </a:t>
            </a:r>
            <a:r>
              <a:rPr b="1" lang="en">
                <a:solidFill>
                  <a:schemeClr val="lt1"/>
                </a:solidFill>
              </a:rPr>
              <a:t>novos dados sendo gerados</a:t>
            </a:r>
            <a:r>
              <a:rPr lang="en">
                <a:solidFill>
                  <a:schemeClr val="lt1"/>
                </a:solidFill>
              </a:rPr>
              <a:t> de forma recorrente.</a:t>
            </a:r>
            <a:br>
              <a:rPr lang="en">
                <a:solidFill>
                  <a:schemeClr val="lt1"/>
                </a:solidFill>
              </a:rPr>
            </a:br>
            <a:endParaRPr>
              <a:solidFill>
                <a:schemeClr val="lt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lang="en">
                <a:solidFill>
                  <a:schemeClr val="lt1"/>
                </a:solidFill>
              </a:rPr>
              <a:t>Crescimento da produção e comercialização refletindo no aumento de esforços operativos, resultando também em um </a:t>
            </a:r>
            <a:r>
              <a:rPr b="1" lang="en">
                <a:solidFill>
                  <a:schemeClr val="lt1"/>
                </a:solidFill>
              </a:rPr>
              <a:t>volume de dados maior</a:t>
            </a:r>
            <a:r>
              <a:rPr lang="en">
                <a:solidFill>
                  <a:schemeClr val="lt1"/>
                </a:solidFill>
              </a:rPr>
              <a:t> que precisam ser normalizados.</a:t>
            </a:r>
            <a:br>
              <a:rPr lang="en">
                <a:solidFill>
                  <a:schemeClr val="lt1"/>
                </a:solidFill>
              </a:rPr>
            </a:br>
            <a:endParaRPr>
              <a:solidFill>
                <a:schemeClr val="lt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lang="en">
                <a:solidFill>
                  <a:schemeClr val="lt1"/>
                </a:solidFill>
              </a:rPr>
              <a:t>Expansão na variedade de produtos </a:t>
            </a:r>
            <a:br>
              <a:rPr lang="en">
                <a:solidFill>
                  <a:schemeClr val="lt1"/>
                </a:solidFill>
              </a:rPr>
            </a:br>
            <a:r>
              <a:rPr lang="en">
                <a:solidFill>
                  <a:schemeClr val="lt1"/>
                </a:solidFill>
              </a:rPr>
              <a:t>processados a partir do leite, o que requer uma estrutura de dados que permita analisar </a:t>
            </a:r>
            <a:r>
              <a:rPr b="1" lang="en">
                <a:solidFill>
                  <a:schemeClr val="lt1"/>
                </a:solidFill>
              </a:rPr>
              <a:t>lucratividade </a:t>
            </a:r>
            <a:r>
              <a:rPr lang="en">
                <a:solidFill>
                  <a:schemeClr val="lt1"/>
                </a:solidFill>
              </a:rPr>
              <a:t>e comercialização para os canais de distribuição.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8" name="Google Shape;78;p16"/>
          <p:cNvSpPr txBox="1"/>
          <p:nvPr/>
        </p:nvSpPr>
        <p:spPr>
          <a:xfrm>
            <a:off x="6468850" y="4742275"/>
            <a:ext cx="2593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Entendimento do problema</a:t>
            </a:r>
            <a:endParaRPr sz="800">
              <a:solidFill>
                <a:schemeClr val="lt1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7"/>
          <p:cNvSpPr txBox="1"/>
          <p:nvPr/>
        </p:nvSpPr>
        <p:spPr>
          <a:xfrm>
            <a:off x="340000" y="331300"/>
            <a:ext cx="3116700" cy="241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900">
                <a:solidFill>
                  <a:srgbClr val="00364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QUEREMOS NOS TORNAR A PRINCIPAL FORNECEDORA DA REGIÃO</a:t>
            </a:r>
            <a:endParaRPr sz="1100">
              <a:solidFill>
                <a:srgbClr val="00364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84" name="Google Shape;84;p17"/>
          <p:cNvSpPr/>
          <p:nvPr/>
        </p:nvSpPr>
        <p:spPr>
          <a:xfrm>
            <a:off x="1066800" y="3591900"/>
            <a:ext cx="3188700" cy="9144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364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REDUZINDO CUSTOS</a:t>
            </a:r>
            <a:endParaRPr>
              <a:solidFill>
                <a:srgbClr val="00364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85" name="Google Shape;85;p17"/>
          <p:cNvSpPr/>
          <p:nvPr/>
        </p:nvSpPr>
        <p:spPr>
          <a:xfrm>
            <a:off x="4888500" y="3591900"/>
            <a:ext cx="3188700" cy="9144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364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AUMENTANDO EFICIÊNCIA OPERACIONAL</a:t>
            </a:r>
            <a:endParaRPr>
              <a:solidFill>
                <a:srgbClr val="00364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86" name="Google Shape;86;p17"/>
          <p:cNvSpPr txBox="1"/>
          <p:nvPr/>
        </p:nvSpPr>
        <p:spPr>
          <a:xfrm>
            <a:off x="6468850" y="4742275"/>
            <a:ext cx="2593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00364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Entendimento do problema</a:t>
            </a:r>
            <a:endParaRPr sz="800">
              <a:solidFill>
                <a:srgbClr val="003641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8"/>
          <p:cNvSpPr txBox="1"/>
          <p:nvPr/>
        </p:nvSpPr>
        <p:spPr>
          <a:xfrm>
            <a:off x="5350950" y="532625"/>
            <a:ext cx="3116700" cy="19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900">
                <a:solidFill>
                  <a:srgbClr val="00364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ALCANÇANDO ISSO, OS IMPACTOS SÃO CLAROS</a:t>
            </a:r>
            <a:endParaRPr sz="1100">
              <a:solidFill>
                <a:srgbClr val="00364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92" name="Google Shape;92;p18"/>
          <p:cNvSpPr/>
          <p:nvPr/>
        </p:nvSpPr>
        <p:spPr>
          <a:xfrm>
            <a:off x="1066800" y="3591900"/>
            <a:ext cx="3188700" cy="914400"/>
          </a:xfrm>
          <a:prstGeom prst="roundRect">
            <a:avLst>
              <a:gd fmla="val 16667" name="adj"/>
            </a:avLst>
          </a:prstGeom>
          <a:solidFill>
            <a:srgbClr val="00364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MARGEM MAIOR</a:t>
            </a:r>
            <a:endParaRPr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93" name="Google Shape;93;p18"/>
          <p:cNvSpPr/>
          <p:nvPr/>
        </p:nvSpPr>
        <p:spPr>
          <a:xfrm>
            <a:off x="4888500" y="3591900"/>
            <a:ext cx="3188700" cy="914400"/>
          </a:xfrm>
          <a:prstGeom prst="roundRect">
            <a:avLst>
              <a:gd fmla="val 16667" name="adj"/>
            </a:avLst>
          </a:prstGeom>
          <a:solidFill>
            <a:srgbClr val="00364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SATISFAÇÃO INTERNA E EXTERNA</a:t>
            </a:r>
            <a:endParaRPr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94" name="Google Shape;94;p18"/>
          <p:cNvSpPr txBox="1"/>
          <p:nvPr/>
        </p:nvSpPr>
        <p:spPr>
          <a:xfrm>
            <a:off x="6468850" y="4742275"/>
            <a:ext cx="2593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00364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Entendimento do problema</a:t>
            </a:r>
            <a:endParaRPr sz="800">
              <a:solidFill>
                <a:srgbClr val="003641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3641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9"/>
          <p:cNvSpPr txBox="1"/>
          <p:nvPr/>
        </p:nvSpPr>
        <p:spPr>
          <a:xfrm>
            <a:off x="298600" y="693900"/>
            <a:ext cx="3116700" cy="375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9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 CAMINHO MAIS EFICIENTE PARA ALCANÇAR É TRABALHAR BEM COM OS DADOS</a:t>
            </a:r>
            <a:endParaRPr sz="11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00" name="Google Shape;100;p19"/>
          <p:cNvSpPr txBox="1"/>
          <p:nvPr/>
        </p:nvSpPr>
        <p:spPr>
          <a:xfrm>
            <a:off x="4926291" y="693900"/>
            <a:ext cx="3116700" cy="6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9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DADOS</a:t>
            </a:r>
            <a:endParaRPr sz="11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01" name="Google Shape;101;p19"/>
          <p:cNvSpPr txBox="1"/>
          <p:nvPr/>
        </p:nvSpPr>
        <p:spPr>
          <a:xfrm>
            <a:off x="4926291" y="2256150"/>
            <a:ext cx="3116700" cy="6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9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INSIGHTS</a:t>
            </a:r>
            <a:endParaRPr sz="11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02" name="Google Shape;102;p19"/>
          <p:cNvSpPr txBox="1"/>
          <p:nvPr/>
        </p:nvSpPr>
        <p:spPr>
          <a:xfrm>
            <a:off x="4926291" y="3818400"/>
            <a:ext cx="3116700" cy="6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9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AÇÕES</a:t>
            </a:r>
            <a:endParaRPr sz="11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cxnSp>
        <p:nvCxnSpPr>
          <p:cNvPr id="103" name="Google Shape;103;p19"/>
          <p:cNvCxnSpPr>
            <a:stCxn id="100" idx="2"/>
            <a:endCxn id="101" idx="0"/>
          </p:cNvCxnSpPr>
          <p:nvPr/>
        </p:nvCxnSpPr>
        <p:spPr>
          <a:xfrm>
            <a:off x="6484641" y="1325100"/>
            <a:ext cx="0" cy="931200"/>
          </a:xfrm>
          <a:prstGeom prst="straightConnector1">
            <a:avLst/>
          </a:prstGeom>
          <a:noFill/>
          <a:ln cap="flat" cmpd="sng" w="38100">
            <a:solidFill>
              <a:schemeClr val="lt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04" name="Google Shape;104;p19"/>
          <p:cNvCxnSpPr/>
          <p:nvPr/>
        </p:nvCxnSpPr>
        <p:spPr>
          <a:xfrm>
            <a:off x="6484641" y="2887350"/>
            <a:ext cx="0" cy="931200"/>
          </a:xfrm>
          <a:prstGeom prst="straightConnector1">
            <a:avLst/>
          </a:prstGeom>
          <a:noFill/>
          <a:ln cap="flat" cmpd="sng" w="38100">
            <a:solidFill>
              <a:schemeClr val="lt1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05" name="Google Shape;105;p19"/>
          <p:cNvSpPr txBox="1"/>
          <p:nvPr/>
        </p:nvSpPr>
        <p:spPr>
          <a:xfrm>
            <a:off x="6468850" y="4742275"/>
            <a:ext cx="2593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Entendimento do problema</a:t>
            </a:r>
            <a:endParaRPr sz="800">
              <a:solidFill>
                <a:schemeClr val="lt1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/>
        </p:nvSpPr>
        <p:spPr>
          <a:xfrm>
            <a:off x="146700" y="110450"/>
            <a:ext cx="7785300" cy="10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900">
                <a:solidFill>
                  <a:srgbClr val="00364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PRIMEIRO É PRECISO ENTENDER COMO TUDO FUNCIONA</a:t>
            </a:r>
            <a:endParaRPr sz="1100">
              <a:solidFill>
                <a:srgbClr val="00364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111" name="Google Shape;11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0650" y="1187750"/>
            <a:ext cx="7662688" cy="365095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0"/>
          <p:cNvSpPr txBox="1"/>
          <p:nvPr/>
        </p:nvSpPr>
        <p:spPr>
          <a:xfrm>
            <a:off x="6468850" y="4742275"/>
            <a:ext cx="2593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00364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Entendimento do problema</a:t>
            </a:r>
            <a:endParaRPr sz="800">
              <a:solidFill>
                <a:srgbClr val="003641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3641"/>
        </a:solidFill>
      </p:bgPr>
    </p:bg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/>
        </p:nvSpPr>
        <p:spPr>
          <a:xfrm>
            <a:off x="498750" y="2887475"/>
            <a:ext cx="8146500" cy="15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 sz="29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“Análises sobre operação, fornecedores, produção, clientes, distribuição, perdas, custos ou qualquer outro tema”</a:t>
            </a:r>
            <a:endParaRPr i="1" sz="11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18" name="Google Shape;118;p21"/>
          <p:cNvSpPr txBox="1"/>
          <p:nvPr/>
        </p:nvSpPr>
        <p:spPr>
          <a:xfrm>
            <a:off x="498750" y="1308250"/>
            <a:ext cx="8146500" cy="10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9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 MODELAGEM DEVE RESPONDER ESSAS PERGUNTAS DE NEGÓCIO</a:t>
            </a:r>
            <a:endParaRPr sz="11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19" name="Google Shape;119;p21"/>
          <p:cNvSpPr txBox="1"/>
          <p:nvPr/>
        </p:nvSpPr>
        <p:spPr>
          <a:xfrm>
            <a:off x="6479521" y="4688919"/>
            <a:ext cx="25932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Quais são os principais pontos que contribuem para o crescimento do negócio?</a:t>
            </a:r>
            <a:endParaRPr sz="800">
              <a:solidFill>
                <a:schemeClr val="lt1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/>
          <p:nvPr/>
        </p:nvSpPr>
        <p:spPr>
          <a:xfrm>
            <a:off x="146700" y="110450"/>
            <a:ext cx="7785300" cy="10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900">
                <a:solidFill>
                  <a:srgbClr val="00364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QUAIS DADOS VÃO TRADUZIR ESSES ENTENDIMENTOS?</a:t>
            </a:r>
            <a:endParaRPr sz="1100">
              <a:solidFill>
                <a:srgbClr val="00364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25" name="Google Shape;125;p22"/>
          <p:cNvSpPr/>
          <p:nvPr/>
        </p:nvSpPr>
        <p:spPr>
          <a:xfrm>
            <a:off x="399000" y="1478125"/>
            <a:ext cx="1551000" cy="458400"/>
          </a:xfrm>
          <a:prstGeom prst="roundRect">
            <a:avLst>
              <a:gd fmla="val 16667" name="adj"/>
            </a:avLst>
          </a:prstGeom>
          <a:solidFill>
            <a:srgbClr val="00AE9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cooperado</a:t>
            </a:r>
            <a:endParaRPr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26" name="Google Shape;126;p22"/>
          <p:cNvSpPr/>
          <p:nvPr/>
        </p:nvSpPr>
        <p:spPr>
          <a:xfrm>
            <a:off x="2220844" y="1478125"/>
            <a:ext cx="1551000" cy="458400"/>
          </a:xfrm>
          <a:prstGeom prst="roundRect">
            <a:avLst>
              <a:gd fmla="val 16667" name="adj"/>
            </a:avLst>
          </a:prstGeom>
          <a:solidFill>
            <a:srgbClr val="00AE9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fazenda</a:t>
            </a:r>
            <a:endParaRPr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27" name="Google Shape;127;p22"/>
          <p:cNvSpPr txBox="1"/>
          <p:nvPr/>
        </p:nvSpPr>
        <p:spPr>
          <a:xfrm>
            <a:off x="458550" y="1936525"/>
            <a:ext cx="1431900" cy="17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2"/>
                </a:solidFill>
              </a:rPr>
              <a:t>quem é a pessoa/empresa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28" name="Google Shape;128;p22"/>
          <p:cNvSpPr txBox="1"/>
          <p:nvPr/>
        </p:nvSpPr>
        <p:spPr>
          <a:xfrm>
            <a:off x="2205100" y="1936525"/>
            <a:ext cx="1582500" cy="17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2"/>
                </a:solidFill>
              </a:rPr>
              <a:t>as propriedades do cooperado 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29" name="Google Shape;129;p22"/>
          <p:cNvSpPr/>
          <p:nvPr/>
        </p:nvSpPr>
        <p:spPr>
          <a:xfrm>
            <a:off x="4372393" y="1478125"/>
            <a:ext cx="1551000" cy="458400"/>
          </a:xfrm>
          <a:prstGeom prst="roundRect">
            <a:avLst>
              <a:gd fmla="val 16667" name="adj"/>
            </a:avLst>
          </a:prstGeom>
          <a:solidFill>
            <a:srgbClr val="00364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coleta</a:t>
            </a:r>
            <a:endParaRPr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30" name="Google Shape;130;p22"/>
          <p:cNvSpPr txBox="1"/>
          <p:nvPr/>
        </p:nvSpPr>
        <p:spPr>
          <a:xfrm>
            <a:off x="4356650" y="1936525"/>
            <a:ext cx="1582500" cy="28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2"/>
                </a:solidFill>
              </a:rPr>
              <a:t>registro diário do volume de leite coletado em cada fazenda </a:t>
            </a:r>
            <a:endParaRPr sz="800">
              <a:solidFill>
                <a:schemeClr val="dk2"/>
              </a:solidFill>
            </a:endParaRPr>
          </a:p>
        </p:txBody>
      </p:sp>
      <p:cxnSp>
        <p:nvCxnSpPr>
          <p:cNvPr id="131" name="Google Shape;131;p22"/>
          <p:cNvCxnSpPr>
            <a:stCxn id="125" idx="3"/>
            <a:endCxn id="126" idx="1"/>
          </p:cNvCxnSpPr>
          <p:nvPr/>
        </p:nvCxnSpPr>
        <p:spPr>
          <a:xfrm>
            <a:off x="1950000" y="1707325"/>
            <a:ext cx="2709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32" name="Google Shape;132;p22"/>
          <p:cNvCxnSpPr>
            <a:stCxn id="126" idx="3"/>
            <a:endCxn id="129" idx="1"/>
          </p:cNvCxnSpPr>
          <p:nvPr/>
        </p:nvCxnSpPr>
        <p:spPr>
          <a:xfrm>
            <a:off x="3771844" y="1707325"/>
            <a:ext cx="6006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33" name="Google Shape;133;p22"/>
          <p:cNvSpPr/>
          <p:nvPr/>
        </p:nvSpPr>
        <p:spPr>
          <a:xfrm>
            <a:off x="399000" y="2455525"/>
            <a:ext cx="1551000" cy="458400"/>
          </a:xfrm>
          <a:prstGeom prst="roundRect">
            <a:avLst>
              <a:gd fmla="val 16667" name="adj"/>
            </a:avLst>
          </a:prstGeom>
          <a:solidFill>
            <a:srgbClr val="00AE9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produto</a:t>
            </a:r>
            <a:endParaRPr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34" name="Google Shape;134;p22"/>
          <p:cNvSpPr txBox="1"/>
          <p:nvPr/>
        </p:nvSpPr>
        <p:spPr>
          <a:xfrm>
            <a:off x="458550" y="2913925"/>
            <a:ext cx="1431900" cy="28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2"/>
                </a:solidFill>
              </a:rPr>
              <a:t>catálogo de produtos fabricados pela cooperativa 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35" name="Google Shape;135;p22"/>
          <p:cNvSpPr/>
          <p:nvPr/>
        </p:nvSpPr>
        <p:spPr>
          <a:xfrm>
            <a:off x="2592083" y="2455525"/>
            <a:ext cx="1551000" cy="458400"/>
          </a:xfrm>
          <a:prstGeom prst="roundRect">
            <a:avLst>
              <a:gd fmla="val 16667" name="adj"/>
            </a:avLst>
          </a:prstGeom>
          <a:solidFill>
            <a:srgbClr val="00364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producao</a:t>
            </a:r>
            <a:endParaRPr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36" name="Google Shape;136;p22"/>
          <p:cNvSpPr txBox="1"/>
          <p:nvPr/>
        </p:nvSpPr>
        <p:spPr>
          <a:xfrm>
            <a:off x="2651640" y="2913925"/>
            <a:ext cx="1431900" cy="28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2"/>
                </a:solidFill>
              </a:rPr>
              <a:t>ordens de produção na planta industrial 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37" name="Google Shape;137;p22"/>
          <p:cNvSpPr/>
          <p:nvPr/>
        </p:nvSpPr>
        <p:spPr>
          <a:xfrm>
            <a:off x="399000" y="3729925"/>
            <a:ext cx="1551000" cy="458400"/>
          </a:xfrm>
          <a:prstGeom prst="roundRect">
            <a:avLst>
              <a:gd fmla="val 16667" name="adj"/>
            </a:avLst>
          </a:prstGeom>
          <a:solidFill>
            <a:srgbClr val="00AE9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cliente</a:t>
            </a:r>
            <a:endParaRPr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38" name="Google Shape;138;p22"/>
          <p:cNvSpPr txBox="1"/>
          <p:nvPr/>
        </p:nvSpPr>
        <p:spPr>
          <a:xfrm>
            <a:off x="458550" y="4188325"/>
            <a:ext cx="1431900" cy="28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2"/>
                </a:solidFill>
              </a:rPr>
              <a:t>empresas ou pessoas que compram os produtos da cooperativa </a:t>
            </a:r>
            <a:endParaRPr sz="800">
              <a:solidFill>
                <a:schemeClr val="dk2"/>
              </a:solidFill>
            </a:endParaRPr>
          </a:p>
        </p:txBody>
      </p:sp>
      <p:cxnSp>
        <p:nvCxnSpPr>
          <p:cNvPr id="139" name="Google Shape;139;p22"/>
          <p:cNvCxnSpPr>
            <a:stCxn id="133" idx="3"/>
            <a:endCxn id="135" idx="1"/>
          </p:cNvCxnSpPr>
          <p:nvPr/>
        </p:nvCxnSpPr>
        <p:spPr>
          <a:xfrm>
            <a:off x="1950000" y="2684725"/>
            <a:ext cx="64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40" name="Google Shape;140;p22"/>
          <p:cNvSpPr/>
          <p:nvPr/>
        </p:nvSpPr>
        <p:spPr>
          <a:xfrm>
            <a:off x="4372393" y="3729925"/>
            <a:ext cx="1551000" cy="458400"/>
          </a:xfrm>
          <a:prstGeom prst="roundRect">
            <a:avLst>
              <a:gd fmla="val 16667" name="adj"/>
            </a:avLst>
          </a:prstGeom>
          <a:solidFill>
            <a:srgbClr val="00364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pedido</a:t>
            </a:r>
            <a:endParaRPr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41" name="Google Shape;141;p22"/>
          <p:cNvSpPr txBox="1"/>
          <p:nvPr/>
        </p:nvSpPr>
        <p:spPr>
          <a:xfrm>
            <a:off x="4431950" y="4188325"/>
            <a:ext cx="1431900" cy="28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2"/>
                </a:solidFill>
              </a:rPr>
              <a:t>cabeçalho de cada pedido de venda realizado </a:t>
            </a:r>
            <a:endParaRPr sz="800">
              <a:solidFill>
                <a:schemeClr val="dk2"/>
              </a:solidFill>
            </a:endParaRPr>
          </a:p>
        </p:txBody>
      </p:sp>
      <p:cxnSp>
        <p:nvCxnSpPr>
          <p:cNvPr id="142" name="Google Shape;142;p22"/>
          <p:cNvCxnSpPr>
            <a:stCxn id="137" idx="3"/>
            <a:endCxn id="140" idx="1"/>
          </p:cNvCxnSpPr>
          <p:nvPr/>
        </p:nvCxnSpPr>
        <p:spPr>
          <a:xfrm>
            <a:off x="1950000" y="3959125"/>
            <a:ext cx="2422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43" name="Google Shape;143;p22"/>
          <p:cNvSpPr/>
          <p:nvPr/>
        </p:nvSpPr>
        <p:spPr>
          <a:xfrm>
            <a:off x="6380993" y="3729925"/>
            <a:ext cx="1551000" cy="458400"/>
          </a:xfrm>
          <a:prstGeom prst="roundRect">
            <a:avLst>
              <a:gd fmla="val 16667" name="adj"/>
            </a:avLst>
          </a:prstGeom>
          <a:solidFill>
            <a:srgbClr val="00364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itens_pedido</a:t>
            </a:r>
            <a:endParaRPr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44" name="Google Shape;144;p22"/>
          <p:cNvSpPr txBox="1"/>
          <p:nvPr/>
        </p:nvSpPr>
        <p:spPr>
          <a:xfrm>
            <a:off x="6440550" y="4188325"/>
            <a:ext cx="1431900" cy="28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2"/>
                </a:solidFill>
              </a:rPr>
              <a:t>os produtos dentro de cada pedido, com quantidade e preço </a:t>
            </a:r>
            <a:endParaRPr sz="800">
              <a:solidFill>
                <a:schemeClr val="dk2"/>
              </a:solidFill>
            </a:endParaRPr>
          </a:p>
        </p:txBody>
      </p:sp>
      <p:cxnSp>
        <p:nvCxnSpPr>
          <p:cNvPr id="145" name="Google Shape;145;p22"/>
          <p:cNvCxnSpPr>
            <a:stCxn id="140" idx="3"/>
            <a:endCxn id="143" idx="1"/>
          </p:cNvCxnSpPr>
          <p:nvPr/>
        </p:nvCxnSpPr>
        <p:spPr>
          <a:xfrm>
            <a:off x="5923393" y="3959125"/>
            <a:ext cx="457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46" name="Google Shape;146;p22"/>
          <p:cNvCxnSpPr>
            <a:stCxn id="134" idx="2"/>
            <a:endCxn id="143" idx="0"/>
          </p:cNvCxnSpPr>
          <p:nvPr/>
        </p:nvCxnSpPr>
        <p:spPr>
          <a:xfrm>
            <a:off x="1174500" y="3203725"/>
            <a:ext cx="5982000" cy="526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47" name="Google Shape;147;p22"/>
          <p:cNvSpPr/>
          <p:nvPr/>
        </p:nvSpPr>
        <p:spPr>
          <a:xfrm>
            <a:off x="7046543" y="1478125"/>
            <a:ext cx="1551000" cy="458400"/>
          </a:xfrm>
          <a:prstGeom prst="roundRect">
            <a:avLst>
              <a:gd fmla="val 16667" name="adj"/>
            </a:avLst>
          </a:prstGeom>
          <a:solidFill>
            <a:srgbClr val="00AE9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rota</a:t>
            </a:r>
            <a:endParaRPr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48" name="Google Shape;148;p22"/>
          <p:cNvSpPr txBox="1"/>
          <p:nvPr/>
        </p:nvSpPr>
        <p:spPr>
          <a:xfrm>
            <a:off x="7030800" y="1936525"/>
            <a:ext cx="1582500" cy="28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2"/>
                </a:solidFill>
              </a:rPr>
              <a:t>os trajetos utilizados para coleta e entrega </a:t>
            </a:r>
            <a:endParaRPr sz="800">
              <a:solidFill>
                <a:schemeClr val="dk2"/>
              </a:solidFill>
            </a:endParaRPr>
          </a:p>
        </p:txBody>
      </p:sp>
      <p:cxnSp>
        <p:nvCxnSpPr>
          <p:cNvPr id="149" name="Google Shape;149;p22"/>
          <p:cNvCxnSpPr>
            <a:stCxn id="147" idx="1"/>
            <a:endCxn id="129" idx="3"/>
          </p:cNvCxnSpPr>
          <p:nvPr/>
        </p:nvCxnSpPr>
        <p:spPr>
          <a:xfrm rot="10800000">
            <a:off x="5923343" y="1707325"/>
            <a:ext cx="11232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50" name="Google Shape;150;p22"/>
          <p:cNvSpPr/>
          <p:nvPr/>
        </p:nvSpPr>
        <p:spPr>
          <a:xfrm>
            <a:off x="4376398" y="2466379"/>
            <a:ext cx="1551000" cy="458400"/>
          </a:xfrm>
          <a:prstGeom prst="roundRect">
            <a:avLst>
              <a:gd fmla="val 16667" name="adj"/>
            </a:avLst>
          </a:prstGeom>
          <a:solidFill>
            <a:srgbClr val="00364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entrega</a:t>
            </a:r>
            <a:endParaRPr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51" name="Google Shape;151;p22"/>
          <p:cNvSpPr txBox="1"/>
          <p:nvPr/>
        </p:nvSpPr>
        <p:spPr>
          <a:xfrm>
            <a:off x="4435955" y="2924779"/>
            <a:ext cx="1431900" cy="28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2"/>
                </a:solidFill>
              </a:rPr>
              <a:t>execução logística de cada pedido, com prazo e custo de frete </a:t>
            </a:r>
            <a:endParaRPr sz="800">
              <a:solidFill>
                <a:schemeClr val="dk2"/>
              </a:solidFill>
            </a:endParaRPr>
          </a:p>
        </p:txBody>
      </p:sp>
      <p:cxnSp>
        <p:nvCxnSpPr>
          <p:cNvPr id="152" name="Google Shape;152;p22"/>
          <p:cNvCxnSpPr>
            <a:stCxn id="140" idx="0"/>
            <a:endCxn id="151" idx="2"/>
          </p:cNvCxnSpPr>
          <p:nvPr/>
        </p:nvCxnSpPr>
        <p:spPr>
          <a:xfrm flipH="1" rot="10800000">
            <a:off x="5147893" y="3214525"/>
            <a:ext cx="3900" cy="515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53" name="Google Shape;153;p22"/>
          <p:cNvCxnSpPr>
            <a:stCxn id="147" idx="1"/>
            <a:endCxn id="150" idx="3"/>
          </p:cNvCxnSpPr>
          <p:nvPr/>
        </p:nvCxnSpPr>
        <p:spPr>
          <a:xfrm flipH="1">
            <a:off x="5927543" y="1707325"/>
            <a:ext cx="1119000" cy="988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54" name="Google Shape;154;p22"/>
          <p:cNvSpPr txBox="1"/>
          <p:nvPr/>
        </p:nvSpPr>
        <p:spPr>
          <a:xfrm>
            <a:off x="6479521" y="4688919"/>
            <a:ext cx="25932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00364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Quais são os principais pontos que contribuem para o crescimento do negócio?</a:t>
            </a:r>
            <a:endParaRPr sz="800">
              <a:solidFill>
                <a:srgbClr val="003641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3"/>
          <p:cNvSpPr txBox="1"/>
          <p:nvPr/>
        </p:nvSpPr>
        <p:spPr>
          <a:xfrm>
            <a:off x="146700" y="110450"/>
            <a:ext cx="7785300" cy="6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900">
                <a:solidFill>
                  <a:srgbClr val="00364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TABELAS ADICIONAIS</a:t>
            </a:r>
            <a:endParaRPr sz="1100">
              <a:solidFill>
                <a:srgbClr val="00364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0" name="Google Shape;160;p23"/>
          <p:cNvSpPr/>
          <p:nvPr/>
        </p:nvSpPr>
        <p:spPr>
          <a:xfrm>
            <a:off x="1819075" y="2114488"/>
            <a:ext cx="1551000" cy="458400"/>
          </a:xfrm>
          <a:prstGeom prst="roundRect">
            <a:avLst>
              <a:gd fmla="val 16667" name="adj"/>
            </a:avLst>
          </a:prstGeom>
          <a:solidFill>
            <a:srgbClr val="00364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perda</a:t>
            </a:r>
            <a:endParaRPr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1" name="Google Shape;161;p23"/>
          <p:cNvSpPr txBox="1"/>
          <p:nvPr/>
        </p:nvSpPr>
        <p:spPr>
          <a:xfrm>
            <a:off x="1878625" y="2572888"/>
            <a:ext cx="1431900" cy="17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2"/>
                </a:solidFill>
              </a:rPr>
              <a:t>ocorrências de perda de volume ou valor em qualquer etapa da cadeia 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62" name="Google Shape;162;p23"/>
          <p:cNvSpPr/>
          <p:nvPr/>
        </p:nvSpPr>
        <p:spPr>
          <a:xfrm>
            <a:off x="1819075" y="3500463"/>
            <a:ext cx="1551000" cy="458400"/>
          </a:xfrm>
          <a:prstGeom prst="roundRect">
            <a:avLst>
              <a:gd fmla="val 16667" name="adj"/>
            </a:avLst>
          </a:prstGeom>
          <a:solidFill>
            <a:srgbClr val="00364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custo</a:t>
            </a:r>
            <a:endParaRPr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3" name="Google Shape;163;p23"/>
          <p:cNvSpPr txBox="1"/>
          <p:nvPr/>
        </p:nvSpPr>
        <p:spPr>
          <a:xfrm>
            <a:off x="1878625" y="3958863"/>
            <a:ext cx="1431900" cy="28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2"/>
                </a:solidFill>
              </a:rPr>
              <a:t>custos fixos e variáveis registrados por centro de custo 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64" name="Google Shape;164;p23"/>
          <p:cNvSpPr/>
          <p:nvPr/>
        </p:nvSpPr>
        <p:spPr>
          <a:xfrm>
            <a:off x="5773925" y="1326638"/>
            <a:ext cx="1551000" cy="458400"/>
          </a:xfrm>
          <a:prstGeom prst="roundRect">
            <a:avLst>
              <a:gd fmla="val 16667" name="adj"/>
            </a:avLst>
          </a:prstGeom>
          <a:solidFill>
            <a:srgbClr val="B7B7B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cooperado</a:t>
            </a:r>
            <a:endParaRPr>
              <a:solidFill>
                <a:srgbClr val="434343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5" name="Google Shape;165;p23"/>
          <p:cNvSpPr/>
          <p:nvPr/>
        </p:nvSpPr>
        <p:spPr>
          <a:xfrm>
            <a:off x="5773933" y="2114488"/>
            <a:ext cx="1551000" cy="458400"/>
          </a:xfrm>
          <a:prstGeom prst="roundRect">
            <a:avLst>
              <a:gd fmla="val 16667" name="adj"/>
            </a:avLst>
          </a:prstGeom>
          <a:solidFill>
            <a:srgbClr val="B7B7B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producao</a:t>
            </a:r>
            <a:endParaRPr>
              <a:solidFill>
                <a:srgbClr val="434343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6" name="Google Shape;166;p23"/>
          <p:cNvSpPr/>
          <p:nvPr/>
        </p:nvSpPr>
        <p:spPr>
          <a:xfrm>
            <a:off x="5773923" y="2902342"/>
            <a:ext cx="1551000" cy="458400"/>
          </a:xfrm>
          <a:prstGeom prst="roundRect">
            <a:avLst>
              <a:gd fmla="val 16667" name="adj"/>
            </a:avLst>
          </a:prstGeom>
          <a:solidFill>
            <a:srgbClr val="B7B7B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34343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entrega</a:t>
            </a:r>
            <a:endParaRPr>
              <a:solidFill>
                <a:srgbClr val="434343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cxnSp>
        <p:nvCxnSpPr>
          <p:cNvPr id="167" name="Google Shape;167;p23"/>
          <p:cNvCxnSpPr>
            <a:stCxn id="160" idx="3"/>
            <a:endCxn id="164" idx="1"/>
          </p:cNvCxnSpPr>
          <p:nvPr/>
        </p:nvCxnSpPr>
        <p:spPr>
          <a:xfrm flipH="1" rot="10800000">
            <a:off x="3370075" y="1555888"/>
            <a:ext cx="2403900" cy="787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ash"/>
            <a:round/>
            <a:headEnd len="med" w="med" type="stealth"/>
            <a:tailEnd len="med" w="med" type="none"/>
          </a:ln>
        </p:spPr>
      </p:cxnSp>
      <p:cxnSp>
        <p:nvCxnSpPr>
          <p:cNvPr id="168" name="Google Shape;168;p23"/>
          <p:cNvCxnSpPr>
            <a:stCxn id="160" idx="3"/>
            <a:endCxn id="165" idx="1"/>
          </p:cNvCxnSpPr>
          <p:nvPr/>
        </p:nvCxnSpPr>
        <p:spPr>
          <a:xfrm>
            <a:off x="3370075" y="2343688"/>
            <a:ext cx="24039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ash"/>
            <a:round/>
            <a:headEnd len="med" w="med" type="stealth"/>
            <a:tailEnd len="med" w="med" type="none"/>
          </a:ln>
        </p:spPr>
      </p:cxnSp>
      <p:cxnSp>
        <p:nvCxnSpPr>
          <p:cNvPr id="169" name="Google Shape;169;p23"/>
          <p:cNvCxnSpPr>
            <a:stCxn id="160" idx="3"/>
            <a:endCxn id="166" idx="1"/>
          </p:cNvCxnSpPr>
          <p:nvPr/>
        </p:nvCxnSpPr>
        <p:spPr>
          <a:xfrm>
            <a:off x="3370075" y="2343688"/>
            <a:ext cx="2403900" cy="787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ash"/>
            <a:round/>
            <a:headEnd len="med" w="med" type="stealth"/>
            <a:tailEnd len="med" w="med" type="none"/>
          </a:ln>
        </p:spPr>
      </p:cxnSp>
      <p:sp>
        <p:nvSpPr>
          <p:cNvPr id="170" name="Google Shape;170;p23"/>
          <p:cNvSpPr txBox="1"/>
          <p:nvPr/>
        </p:nvSpPr>
        <p:spPr>
          <a:xfrm>
            <a:off x="6479521" y="4688919"/>
            <a:ext cx="25932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00364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Quais são os principais pontos que contribuem para o crescimento do negócio?</a:t>
            </a:r>
            <a:endParaRPr sz="800">
              <a:solidFill>
                <a:srgbClr val="003641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5235" y="1187748"/>
            <a:ext cx="4548241" cy="2017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52043" y="3356266"/>
            <a:ext cx="2914601" cy="17390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77" name="Google Shape;177;p24"/>
          <p:cNvCxnSpPr/>
          <p:nvPr/>
        </p:nvCxnSpPr>
        <p:spPr>
          <a:xfrm>
            <a:off x="204200" y="3375050"/>
            <a:ext cx="5143500" cy="0"/>
          </a:xfrm>
          <a:prstGeom prst="straightConnector1">
            <a:avLst/>
          </a:prstGeom>
          <a:noFill/>
          <a:ln cap="flat" cmpd="sng" w="9525">
            <a:solidFill>
              <a:srgbClr val="999999"/>
            </a:solidFill>
            <a:prstDash val="dash"/>
            <a:round/>
            <a:headEnd len="med" w="med" type="none"/>
            <a:tailEnd len="med" w="med" type="none"/>
          </a:ln>
        </p:spPr>
      </p:cxnSp>
      <p:sp>
        <p:nvSpPr>
          <p:cNvPr id="178" name="Google Shape;178;p24"/>
          <p:cNvSpPr/>
          <p:nvPr/>
        </p:nvSpPr>
        <p:spPr>
          <a:xfrm>
            <a:off x="-200" y="0"/>
            <a:ext cx="9144000" cy="5166600"/>
          </a:xfrm>
          <a:prstGeom prst="rect">
            <a:avLst/>
          </a:prstGeom>
          <a:solidFill>
            <a:srgbClr val="595959">
              <a:alpha val="4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79" name="Google Shape;179;p24"/>
          <p:cNvPicPr preferRelativeResize="0"/>
          <p:nvPr/>
        </p:nvPicPr>
        <p:blipFill rotWithShape="1">
          <a:blip r:embed="rId4">
            <a:alphaModFix/>
          </a:blip>
          <a:srcRect b="0" l="0" r="68661" t="27667"/>
          <a:stretch/>
        </p:blipFill>
        <p:spPr>
          <a:xfrm>
            <a:off x="1352050" y="3837400"/>
            <a:ext cx="913399" cy="1257950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24"/>
          <p:cNvSpPr txBox="1"/>
          <p:nvPr/>
        </p:nvSpPr>
        <p:spPr>
          <a:xfrm>
            <a:off x="146700" y="110450"/>
            <a:ext cx="7785300" cy="10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900">
                <a:solidFill>
                  <a:srgbClr val="00364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ONDE ESTÃO OS DADOS QUE RESPONDEM AS PERGUNTAS?</a:t>
            </a:r>
            <a:endParaRPr sz="1100">
              <a:solidFill>
                <a:srgbClr val="00364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181" name="Google Shape;181;p24"/>
          <p:cNvPicPr preferRelativeResize="0"/>
          <p:nvPr/>
        </p:nvPicPr>
        <p:blipFill rotWithShape="1">
          <a:blip r:embed="rId3">
            <a:alphaModFix/>
          </a:blip>
          <a:srcRect b="33612" l="47149" r="0" t="0"/>
          <a:stretch/>
        </p:blipFill>
        <p:spPr>
          <a:xfrm>
            <a:off x="2679626" y="1187749"/>
            <a:ext cx="2403850" cy="1339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24"/>
          <p:cNvPicPr preferRelativeResize="0"/>
          <p:nvPr/>
        </p:nvPicPr>
        <p:blipFill rotWithShape="1">
          <a:blip r:embed="rId3">
            <a:alphaModFix/>
          </a:blip>
          <a:srcRect b="33611" l="25761" r="51791" t="39411"/>
          <a:stretch/>
        </p:blipFill>
        <p:spPr>
          <a:xfrm>
            <a:off x="1706800" y="1983050"/>
            <a:ext cx="1020999" cy="54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24"/>
          <p:cNvSpPr/>
          <p:nvPr/>
        </p:nvSpPr>
        <p:spPr>
          <a:xfrm>
            <a:off x="5685750" y="1206625"/>
            <a:ext cx="3063000" cy="3304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Todas as tabelas são importantes para a operação. Mas quando voltamos os holofotes para a questão da </a:t>
            </a:r>
            <a:r>
              <a:rPr b="1" lang="en" sz="1200">
                <a:solidFill>
                  <a:srgbClr val="003641"/>
                </a:solidFill>
              </a:rPr>
              <a:t>melhoria operativa </a:t>
            </a:r>
            <a:r>
              <a:rPr lang="en" sz="1200">
                <a:solidFill>
                  <a:srgbClr val="666666"/>
                </a:solidFill>
              </a:rPr>
              <a:t>e</a:t>
            </a:r>
            <a:r>
              <a:rPr b="1" lang="en" sz="1200">
                <a:solidFill>
                  <a:srgbClr val="003641"/>
                </a:solidFill>
              </a:rPr>
              <a:t> </a:t>
            </a:r>
            <a:r>
              <a:rPr b="1" lang="en" sz="1200">
                <a:solidFill>
                  <a:srgbClr val="003641"/>
                </a:solidFill>
              </a:rPr>
              <a:t>custo</a:t>
            </a:r>
            <a:r>
              <a:rPr lang="en" sz="1200">
                <a:solidFill>
                  <a:schemeClr val="dk2"/>
                </a:solidFill>
              </a:rPr>
              <a:t>, enxergamos essas tabelas sendo os núcleo para nossas respostas.</a:t>
            </a:r>
            <a:endParaRPr sz="1200">
              <a:solidFill>
                <a:schemeClr val="dk2"/>
              </a:solidFill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5145625" y="1187750"/>
            <a:ext cx="274200" cy="274200"/>
          </a:xfrm>
          <a:prstGeom prst="ellipse">
            <a:avLst/>
          </a:prstGeom>
          <a:solidFill>
            <a:srgbClr val="00364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chemeClr val="lt1"/>
                </a:solidFill>
              </a:rPr>
              <a:t>1</a:t>
            </a:r>
            <a:endParaRPr b="1" sz="1000">
              <a:solidFill>
                <a:schemeClr val="lt1"/>
              </a:solidFill>
            </a:endParaRPr>
          </a:p>
        </p:txBody>
      </p:sp>
      <p:sp>
        <p:nvSpPr>
          <p:cNvPr id="185" name="Google Shape;185;p24"/>
          <p:cNvSpPr/>
          <p:nvPr/>
        </p:nvSpPr>
        <p:spPr>
          <a:xfrm>
            <a:off x="2265450" y="3626175"/>
            <a:ext cx="274200" cy="274200"/>
          </a:xfrm>
          <a:prstGeom prst="ellipse">
            <a:avLst/>
          </a:prstGeom>
          <a:solidFill>
            <a:srgbClr val="00364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chemeClr val="lt1"/>
                </a:solidFill>
              </a:rPr>
              <a:t>2</a:t>
            </a:r>
            <a:endParaRPr b="1" sz="1000">
              <a:solidFill>
                <a:schemeClr val="lt1"/>
              </a:solidFill>
            </a:endParaRPr>
          </a:p>
        </p:txBody>
      </p:sp>
      <p:sp>
        <p:nvSpPr>
          <p:cNvPr id="186" name="Google Shape;186;p24"/>
          <p:cNvSpPr/>
          <p:nvPr/>
        </p:nvSpPr>
        <p:spPr>
          <a:xfrm>
            <a:off x="5841450" y="2467875"/>
            <a:ext cx="2751600" cy="933300"/>
          </a:xfrm>
          <a:prstGeom prst="rect">
            <a:avLst/>
          </a:prstGeom>
          <a:solidFill>
            <a:srgbClr val="00364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</a:rPr>
              <a:t>1. Melhorias na logística de </a:t>
            </a:r>
            <a:r>
              <a:rPr b="1" lang="en" sz="1000">
                <a:solidFill>
                  <a:schemeClr val="lt1"/>
                </a:solidFill>
              </a:rPr>
              <a:t>coleta </a:t>
            </a:r>
            <a:r>
              <a:rPr lang="en" sz="1000">
                <a:solidFill>
                  <a:schemeClr val="lt1"/>
                </a:solidFill>
              </a:rPr>
              <a:t>e </a:t>
            </a:r>
            <a:r>
              <a:rPr b="1" lang="en" sz="1000">
                <a:solidFill>
                  <a:schemeClr val="lt1"/>
                </a:solidFill>
              </a:rPr>
              <a:t>entrega </a:t>
            </a:r>
            <a:r>
              <a:rPr lang="en" sz="1000">
                <a:solidFill>
                  <a:schemeClr val="lt1"/>
                </a:solidFill>
              </a:rPr>
              <a:t>de produtos devem garantir a eficiência no processo além da redução de custos ligados a combustível, depreciação dos veículos e tempo.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187" name="Google Shape;187;p24"/>
          <p:cNvSpPr/>
          <p:nvPr/>
        </p:nvSpPr>
        <p:spPr>
          <a:xfrm>
            <a:off x="5841450" y="3481712"/>
            <a:ext cx="2751600" cy="933300"/>
          </a:xfrm>
          <a:prstGeom prst="rect">
            <a:avLst/>
          </a:prstGeom>
          <a:solidFill>
            <a:srgbClr val="00364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</a:rPr>
              <a:t>2. A análise de perdas e custos é essencial para compreender onde os gargalos estão sendo gerados. É possível associar os insights a geração de novos processos e melhorias.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188" name="Google Shape;188;p24"/>
          <p:cNvSpPr txBox="1"/>
          <p:nvPr/>
        </p:nvSpPr>
        <p:spPr>
          <a:xfrm>
            <a:off x="6479521" y="4688919"/>
            <a:ext cx="25932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Quais são os principais pontos que contribuem para o crescimento do negócio?</a:t>
            </a:r>
            <a:endParaRPr sz="800">
              <a:solidFill>
                <a:schemeClr val="lt1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5"/>
          <p:cNvSpPr/>
          <p:nvPr/>
        </p:nvSpPr>
        <p:spPr>
          <a:xfrm>
            <a:off x="-97" y="0"/>
            <a:ext cx="4572000" cy="5143500"/>
          </a:xfrm>
          <a:prstGeom prst="rect">
            <a:avLst/>
          </a:prstGeom>
          <a:solidFill>
            <a:srgbClr val="00364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25"/>
          <p:cNvSpPr txBox="1"/>
          <p:nvPr/>
        </p:nvSpPr>
        <p:spPr>
          <a:xfrm>
            <a:off x="146700" y="110450"/>
            <a:ext cx="4222800" cy="286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9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 ESCOLHA DAS FERRAMENTAS PREZA PELA CONSISTÊNCIA,</a:t>
            </a:r>
            <a:endParaRPr b="1" sz="29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9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MANUTENABILIDADE E ESCALA</a:t>
            </a:r>
            <a:endParaRPr b="1" sz="29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6479521" y="4784969"/>
            <a:ext cx="2593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00364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Modelagem do problema</a:t>
            </a:r>
            <a:endParaRPr sz="800">
              <a:solidFill>
                <a:srgbClr val="003641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4719275" y="540000"/>
            <a:ext cx="4173600" cy="277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rgbClr val="003641"/>
              </a:buClr>
              <a:buSzPts val="2400"/>
              <a:buChar char="●"/>
            </a:pPr>
            <a:r>
              <a:rPr b="1" lang="en" sz="2400">
                <a:solidFill>
                  <a:srgbClr val="003641"/>
                </a:solidFill>
              </a:rPr>
              <a:t>Python</a:t>
            </a:r>
            <a:endParaRPr b="1" sz="2400">
              <a:solidFill>
                <a:srgbClr val="00364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400">
              <a:solidFill>
                <a:srgbClr val="003641"/>
              </a:solidFill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rgbClr val="003641"/>
              </a:buClr>
              <a:buSzPts val="2400"/>
              <a:buChar char="●"/>
            </a:pPr>
            <a:r>
              <a:rPr b="1" lang="en" sz="2400">
                <a:solidFill>
                  <a:srgbClr val="003641"/>
                </a:solidFill>
              </a:rPr>
              <a:t>dbt</a:t>
            </a:r>
            <a:br>
              <a:rPr b="1" lang="en" sz="2400">
                <a:solidFill>
                  <a:srgbClr val="003641"/>
                </a:solidFill>
              </a:rPr>
            </a:br>
            <a:endParaRPr b="1" sz="2400">
              <a:solidFill>
                <a:srgbClr val="003641"/>
              </a:solidFill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rgbClr val="003641"/>
              </a:buClr>
              <a:buSzPts val="2400"/>
              <a:buChar char="●"/>
            </a:pPr>
            <a:r>
              <a:rPr b="1" lang="en" sz="2400">
                <a:solidFill>
                  <a:srgbClr val="003641"/>
                </a:solidFill>
              </a:rPr>
              <a:t>SQL (PostgreSQL)</a:t>
            </a:r>
            <a:br>
              <a:rPr b="1" lang="en" sz="2400">
                <a:solidFill>
                  <a:srgbClr val="003641"/>
                </a:solidFill>
              </a:rPr>
            </a:br>
            <a:endParaRPr b="1" sz="2400">
              <a:solidFill>
                <a:srgbClr val="003641"/>
              </a:solidFill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rgbClr val="003641"/>
              </a:buClr>
              <a:buSzPts val="2400"/>
              <a:buChar char="●"/>
            </a:pPr>
            <a:r>
              <a:rPr b="1" lang="en" sz="2400">
                <a:solidFill>
                  <a:srgbClr val="003641"/>
                </a:solidFill>
              </a:rPr>
              <a:t>Docker</a:t>
            </a:r>
            <a:endParaRPr b="1" sz="2400">
              <a:solidFill>
                <a:srgbClr val="00364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26"/>
          <p:cNvSpPr/>
          <p:nvPr/>
        </p:nvSpPr>
        <p:spPr>
          <a:xfrm>
            <a:off x="-112" y="0"/>
            <a:ext cx="9144000" cy="741600"/>
          </a:xfrm>
          <a:prstGeom prst="rect">
            <a:avLst/>
          </a:prstGeom>
          <a:solidFill>
            <a:srgbClr val="00364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26"/>
          <p:cNvSpPr txBox="1"/>
          <p:nvPr/>
        </p:nvSpPr>
        <p:spPr>
          <a:xfrm>
            <a:off x="146700" y="110450"/>
            <a:ext cx="8755200" cy="6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9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ARQUITETURA</a:t>
            </a:r>
            <a:endParaRPr sz="11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03" name="Google Shape;203;p26"/>
          <p:cNvSpPr/>
          <p:nvPr/>
        </p:nvSpPr>
        <p:spPr>
          <a:xfrm>
            <a:off x="807425" y="1779850"/>
            <a:ext cx="1911900" cy="5145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BRONZE</a:t>
            </a:r>
            <a:endParaRPr>
              <a:solidFill>
                <a:srgbClr val="666666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04" name="Google Shape;204;p26"/>
          <p:cNvSpPr/>
          <p:nvPr/>
        </p:nvSpPr>
        <p:spPr>
          <a:xfrm>
            <a:off x="807425" y="4295800"/>
            <a:ext cx="1911900" cy="250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Raw data should be immutable. </a:t>
            </a:r>
            <a:endParaRPr sz="800">
              <a:solidFill>
                <a:schemeClr val="dk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05" name="Google Shape;205;p26"/>
          <p:cNvSpPr/>
          <p:nvPr/>
        </p:nvSpPr>
        <p:spPr>
          <a:xfrm>
            <a:off x="3616050" y="1779850"/>
            <a:ext cx="1911900" cy="5145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SILVER</a:t>
            </a:r>
            <a:endParaRPr>
              <a:solidFill>
                <a:srgbClr val="666666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06" name="Google Shape;206;p26"/>
          <p:cNvSpPr/>
          <p:nvPr/>
        </p:nvSpPr>
        <p:spPr>
          <a:xfrm>
            <a:off x="6424675" y="1779850"/>
            <a:ext cx="1911900" cy="514500"/>
          </a:xfrm>
          <a:prstGeom prst="rect">
            <a:avLst/>
          </a:prstGeom>
          <a:solidFill>
            <a:srgbClr val="FFD9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GOLD</a:t>
            </a:r>
            <a:endParaRPr>
              <a:solidFill>
                <a:srgbClr val="666666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07" name="Google Shape;207;p26"/>
          <p:cNvSpPr/>
          <p:nvPr/>
        </p:nvSpPr>
        <p:spPr>
          <a:xfrm rot="-5400000">
            <a:off x="4480575" y="-2194118"/>
            <a:ext cx="155400" cy="7540500"/>
          </a:xfrm>
          <a:prstGeom prst="rightBrace">
            <a:avLst>
              <a:gd fmla="val 50000" name="adj1"/>
              <a:gd fmla="val 50000" name="adj2"/>
            </a:avLst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26"/>
          <p:cNvSpPr/>
          <p:nvPr/>
        </p:nvSpPr>
        <p:spPr>
          <a:xfrm>
            <a:off x="788025" y="986025"/>
            <a:ext cx="7540500" cy="386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Camadas Medalhão - Garantia de </a:t>
            </a:r>
            <a:r>
              <a:rPr lang="en" sz="1200">
                <a:solidFill>
                  <a:schemeClr val="dk2"/>
                </a:solidFill>
              </a:rPr>
              <a:t>governança</a:t>
            </a:r>
            <a:r>
              <a:rPr lang="en" sz="1200">
                <a:solidFill>
                  <a:schemeClr val="dk2"/>
                </a:solidFill>
              </a:rPr>
              <a:t> e processos</a:t>
            </a:r>
            <a:endParaRPr sz="1200">
              <a:solidFill>
                <a:schemeClr val="dk2"/>
              </a:solidFill>
            </a:endParaRPr>
          </a:p>
        </p:txBody>
      </p:sp>
      <p:sp>
        <p:nvSpPr>
          <p:cNvPr id="209" name="Google Shape;209;p26"/>
          <p:cNvSpPr/>
          <p:nvPr/>
        </p:nvSpPr>
        <p:spPr>
          <a:xfrm>
            <a:off x="807425" y="2294350"/>
            <a:ext cx="1911900" cy="2019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Char char="-"/>
            </a:pPr>
            <a:r>
              <a:rPr lang="en" sz="1100">
                <a:solidFill>
                  <a:schemeClr val="dk2"/>
                </a:solidFill>
              </a:rPr>
              <a:t>Idempotência</a:t>
            </a:r>
            <a:endParaRPr sz="1100">
              <a:solidFill>
                <a:schemeClr val="dk2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Char char="-"/>
            </a:pPr>
            <a:r>
              <a:rPr lang="en" sz="1100">
                <a:solidFill>
                  <a:schemeClr val="dk2"/>
                </a:solidFill>
              </a:rPr>
              <a:t>Rastreabilidade</a:t>
            </a:r>
            <a:endParaRPr sz="1100">
              <a:solidFill>
                <a:schemeClr val="dk2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Char char="-"/>
            </a:pPr>
            <a:r>
              <a:rPr lang="en" sz="1100">
                <a:solidFill>
                  <a:schemeClr val="dk2"/>
                </a:solidFill>
              </a:rPr>
              <a:t>Troubleshooting</a:t>
            </a:r>
            <a:endParaRPr sz="1100">
              <a:solidFill>
                <a:schemeClr val="dk2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Char char="-"/>
            </a:pPr>
            <a:r>
              <a:rPr lang="en" sz="1100">
                <a:solidFill>
                  <a:schemeClr val="dk2"/>
                </a:solidFill>
              </a:rPr>
              <a:t>Observabilidade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10" name="Google Shape;210;p26"/>
          <p:cNvSpPr/>
          <p:nvPr/>
        </p:nvSpPr>
        <p:spPr>
          <a:xfrm>
            <a:off x="3616050" y="4295800"/>
            <a:ext cx="1911900" cy="250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Transform Data</a:t>
            </a:r>
            <a:endParaRPr sz="800">
              <a:solidFill>
                <a:schemeClr val="dk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11" name="Google Shape;211;p26"/>
          <p:cNvSpPr/>
          <p:nvPr/>
        </p:nvSpPr>
        <p:spPr>
          <a:xfrm>
            <a:off x="3616050" y="2294350"/>
            <a:ext cx="1911900" cy="2019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2"/>
                </a:solidFill>
              </a:rPr>
              <a:t>O tratamento das inconsistências isolado</a:t>
            </a:r>
            <a:endParaRPr sz="1100">
              <a:solidFill>
                <a:schemeClr val="dk2"/>
              </a:solidFill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2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Char char="-"/>
            </a:pPr>
            <a:r>
              <a:rPr lang="en" sz="1100">
                <a:solidFill>
                  <a:schemeClr val="dk2"/>
                </a:solidFill>
              </a:rPr>
              <a:t>Limpeza</a:t>
            </a:r>
            <a:endParaRPr sz="1100">
              <a:solidFill>
                <a:schemeClr val="dk2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Char char="-"/>
            </a:pPr>
            <a:r>
              <a:rPr lang="en" sz="1100">
                <a:solidFill>
                  <a:schemeClr val="dk2"/>
                </a:solidFill>
              </a:rPr>
              <a:t>P</a:t>
            </a:r>
            <a:r>
              <a:rPr lang="en" sz="1100">
                <a:solidFill>
                  <a:schemeClr val="dk2"/>
                </a:solidFill>
              </a:rPr>
              <a:t>adronização</a:t>
            </a:r>
            <a:endParaRPr sz="1100">
              <a:solidFill>
                <a:schemeClr val="dk2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Char char="-"/>
            </a:pPr>
            <a:r>
              <a:rPr lang="en" sz="1100">
                <a:solidFill>
                  <a:schemeClr val="dk2"/>
                </a:solidFill>
              </a:rPr>
              <a:t>Deduplicação</a:t>
            </a:r>
            <a:endParaRPr sz="1100">
              <a:solidFill>
                <a:schemeClr val="dk2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Char char="-"/>
            </a:pPr>
            <a:r>
              <a:rPr lang="en" sz="1100">
                <a:solidFill>
                  <a:schemeClr val="dk2"/>
                </a:solidFill>
              </a:rPr>
              <a:t>Validação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12" name="Google Shape;212;p26"/>
          <p:cNvSpPr/>
          <p:nvPr/>
        </p:nvSpPr>
        <p:spPr>
          <a:xfrm>
            <a:off x="6424675" y="4295800"/>
            <a:ext cx="1911900" cy="250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Analytics Layer</a:t>
            </a:r>
            <a:endParaRPr sz="800">
              <a:solidFill>
                <a:schemeClr val="dk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13" name="Google Shape;213;p26"/>
          <p:cNvSpPr/>
          <p:nvPr/>
        </p:nvSpPr>
        <p:spPr>
          <a:xfrm>
            <a:off x="6424675" y="2294350"/>
            <a:ext cx="1911900" cy="2019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Char char="-"/>
            </a:pPr>
            <a:r>
              <a:rPr lang="en" sz="1100">
                <a:solidFill>
                  <a:schemeClr val="dk2"/>
                </a:solidFill>
              </a:rPr>
              <a:t>KPIs</a:t>
            </a:r>
            <a:endParaRPr sz="1100">
              <a:solidFill>
                <a:schemeClr val="dk2"/>
              </a:solidFill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Char char="-"/>
            </a:pPr>
            <a:r>
              <a:rPr lang="en" sz="1100">
                <a:solidFill>
                  <a:schemeClr val="dk2"/>
                </a:solidFill>
              </a:rPr>
              <a:t>Agregações</a:t>
            </a:r>
            <a:endParaRPr sz="1100">
              <a:solidFill>
                <a:schemeClr val="dk2"/>
              </a:solidFill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Char char="-"/>
            </a:pPr>
            <a:r>
              <a:rPr lang="en" sz="1100">
                <a:solidFill>
                  <a:schemeClr val="dk2"/>
                </a:solidFill>
              </a:rPr>
              <a:t>Visão Analítica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14" name="Google Shape;214;p26"/>
          <p:cNvSpPr txBox="1"/>
          <p:nvPr/>
        </p:nvSpPr>
        <p:spPr>
          <a:xfrm>
            <a:off x="6479521" y="4784969"/>
            <a:ext cx="2593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00364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Modelagem do problema</a:t>
            </a:r>
            <a:endParaRPr sz="800">
              <a:solidFill>
                <a:srgbClr val="003641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215" name="Google Shape;215;p26"/>
          <p:cNvSpPr/>
          <p:nvPr/>
        </p:nvSpPr>
        <p:spPr>
          <a:xfrm>
            <a:off x="3616050" y="4045600"/>
            <a:ext cx="1911900" cy="250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stg_ </a:t>
            </a:r>
            <a:r>
              <a:rPr b="1" lang="en" sz="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prefix</a:t>
            </a:r>
            <a:endParaRPr b="1" sz="800">
              <a:solidFill>
                <a:schemeClr val="dk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16" name="Google Shape;216;p26"/>
          <p:cNvSpPr/>
          <p:nvPr/>
        </p:nvSpPr>
        <p:spPr>
          <a:xfrm>
            <a:off x="6424675" y="4045600"/>
            <a:ext cx="1911900" cy="250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mart_ prefix</a:t>
            </a:r>
            <a:endParaRPr b="1" sz="800">
              <a:solidFill>
                <a:schemeClr val="dk2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27"/>
          <p:cNvSpPr/>
          <p:nvPr/>
        </p:nvSpPr>
        <p:spPr>
          <a:xfrm>
            <a:off x="-112" y="0"/>
            <a:ext cx="9144000" cy="741600"/>
          </a:xfrm>
          <a:prstGeom prst="rect">
            <a:avLst/>
          </a:prstGeom>
          <a:solidFill>
            <a:srgbClr val="00364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27"/>
          <p:cNvSpPr txBox="1"/>
          <p:nvPr/>
        </p:nvSpPr>
        <p:spPr>
          <a:xfrm>
            <a:off x="146700" y="110450"/>
            <a:ext cx="7785300" cy="6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9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CICLO DE VIDA</a:t>
            </a:r>
            <a:endParaRPr sz="11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23" name="Google Shape;223;p27"/>
          <p:cNvSpPr txBox="1"/>
          <p:nvPr/>
        </p:nvSpPr>
        <p:spPr>
          <a:xfrm>
            <a:off x="6479521" y="4784969"/>
            <a:ext cx="2593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00364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Modelagem do problema</a:t>
            </a:r>
            <a:endParaRPr sz="800">
              <a:solidFill>
                <a:srgbClr val="003641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224" name="Google Shape;224;p27"/>
          <p:cNvSpPr/>
          <p:nvPr/>
        </p:nvSpPr>
        <p:spPr>
          <a:xfrm>
            <a:off x="267713" y="2314500"/>
            <a:ext cx="1803900" cy="514500"/>
          </a:xfrm>
          <a:prstGeom prst="rect">
            <a:avLst/>
          </a:prstGeom>
          <a:solidFill>
            <a:srgbClr val="00364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Python</a:t>
            </a:r>
            <a:endParaRPr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25" name="Google Shape;225;p27"/>
          <p:cNvSpPr/>
          <p:nvPr/>
        </p:nvSpPr>
        <p:spPr>
          <a:xfrm>
            <a:off x="2535938" y="2314500"/>
            <a:ext cx="1803900" cy="514500"/>
          </a:xfrm>
          <a:prstGeom prst="rect">
            <a:avLst/>
          </a:prstGeom>
          <a:solidFill>
            <a:srgbClr val="00364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dbt</a:t>
            </a:r>
            <a:endParaRPr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26" name="Google Shape;226;p27"/>
          <p:cNvSpPr/>
          <p:nvPr/>
        </p:nvSpPr>
        <p:spPr>
          <a:xfrm>
            <a:off x="4804164" y="2314500"/>
            <a:ext cx="1803900" cy="514500"/>
          </a:xfrm>
          <a:prstGeom prst="rect">
            <a:avLst/>
          </a:prstGeom>
          <a:solidFill>
            <a:srgbClr val="00364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PostgreSQL</a:t>
            </a:r>
            <a:endParaRPr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27" name="Google Shape;227;p27"/>
          <p:cNvSpPr/>
          <p:nvPr/>
        </p:nvSpPr>
        <p:spPr>
          <a:xfrm>
            <a:off x="7072389" y="2314500"/>
            <a:ext cx="1803900" cy="5145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BI</a:t>
            </a:r>
            <a:endParaRPr>
              <a:solidFill>
                <a:srgbClr val="666666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28" name="Google Shape;228;p27"/>
          <p:cNvSpPr/>
          <p:nvPr/>
        </p:nvSpPr>
        <p:spPr>
          <a:xfrm>
            <a:off x="7072389" y="1575650"/>
            <a:ext cx="1803900" cy="5145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Data Science</a:t>
            </a:r>
            <a:endParaRPr>
              <a:solidFill>
                <a:srgbClr val="666666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29" name="Google Shape;229;p27"/>
          <p:cNvSpPr/>
          <p:nvPr/>
        </p:nvSpPr>
        <p:spPr>
          <a:xfrm>
            <a:off x="7072389" y="3053350"/>
            <a:ext cx="1803900" cy="5145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Gen AI</a:t>
            </a:r>
            <a:endParaRPr>
              <a:solidFill>
                <a:srgbClr val="666666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cxnSp>
        <p:nvCxnSpPr>
          <p:cNvPr id="230" name="Google Shape;230;p27"/>
          <p:cNvCxnSpPr>
            <a:stCxn id="226" idx="3"/>
            <a:endCxn id="228" idx="1"/>
          </p:cNvCxnSpPr>
          <p:nvPr/>
        </p:nvCxnSpPr>
        <p:spPr>
          <a:xfrm flipH="1" rot="10800000">
            <a:off x="6608064" y="1832850"/>
            <a:ext cx="464400" cy="738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ash"/>
            <a:round/>
            <a:headEnd len="med" w="med" type="none"/>
            <a:tailEnd len="med" w="med" type="triangle"/>
          </a:ln>
        </p:spPr>
      </p:cxnSp>
      <p:cxnSp>
        <p:nvCxnSpPr>
          <p:cNvPr id="231" name="Google Shape;231;p27"/>
          <p:cNvCxnSpPr>
            <a:stCxn id="226" idx="3"/>
            <a:endCxn id="227" idx="1"/>
          </p:cNvCxnSpPr>
          <p:nvPr/>
        </p:nvCxnSpPr>
        <p:spPr>
          <a:xfrm>
            <a:off x="6608064" y="2571750"/>
            <a:ext cx="4644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ash"/>
            <a:round/>
            <a:headEnd len="med" w="med" type="none"/>
            <a:tailEnd len="med" w="med" type="triangle"/>
          </a:ln>
        </p:spPr>
      </p:cxnSp>
      <p:cxnSp>
        <p:nvCxnSpPr>
          <p:cNvPr id="232" name="Google Shape;232;p27"/>
          <p:cNvCxnSpPr>
            <a:stCxn id="226" idx="3"/>
            <a:endCxn id="229" idx="1"/>
          </p:cNvCxnSpPr>
          <p:nvPr/>
        </p:nvCxnSpPr>
        <p:spPr>
          <a:xfrm>
            <a:off x="6608064" y="2571750"/>
            <a:ext cx="464400" cy="738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ash"/>
            <a:round/>
            <a:headEnd len="med" w="med" type="none"/>
            <a:tailEnd len="med" w="med" type="triangle"/>
          </a:ln>
        </p:spPr>
      </p:cxnSp>
      <p:cxnSp>
        <p:nvCxnSpPr>
          <p:cNvPr id="233" name="Google Shape;233;p27"/>
          <p:cNvCxnSpPr>
            <a:stCxn id="224" idx="3"/>
            <a:endCxn id="225" idx="1"/>
          </p:cNvCxnSpPr>
          <p:nvPr/>
        </p:nvCxnSpPr>
        <p:spPr>
          <a:xfrm>
            <a:off x="2071613" y="2571750"/>
            <a:ext cx="4644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34" name="Google Shape;234;p27"/>
          <p:cNvCxnSpPr>
            <a:stCxn id="225" idx="3"/>
            <a:endCxn id="226" idx="1"/>
          </p:cNvCxnSpPr>
          <p:nvPr/>
        </p:nvCxnSpPr>
        <p:spPr>
          <a:xfrm>
            <a:off x="4339838" y="2571750"/>
            <a:ext cx="4644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35" name="Google Shape;235;p27"/>
          <p:cNvSpPr/>
          <p:nvPr/>
        </p:nvSpPr>
        <p:spPr>
          <a:xfrm>
            <a:off x="267725" y="2829000"/>
            <a:ext cx="1803900" cy="987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2"/>
                </a:solidFill>
              </a:rPr>
              <a:t>Entrada dos dados e alocação na camada crua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36" name="Google Shape;236;p27"/>
          <p:cNvSpPr/>
          <p:nvPr/>
        </p:nvSpPr>
        <p:spPr>
          <a:xfrm>
            <a:off x="2535950" y="2829000"/>
            <a:ext cx="1803900" cy="987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2"/>
                </a:solidFill>
              </a:rPr>
              <a:t>Trativa dos dados em SQL e adição de regras de negócio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37" name="Google Shape;237;p27"/>
          <p:cNvSpPr/>
          <p:nvPr/>
        </p:nvSpPr>
        <p:spPr>
          <a:xfrm>
            <a:off x="4804175" y="2816950"/>
            <a:ext cx="1803900" cy="987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2"/>
                </a:solidFill>
              </a:rPr>
              <a:t>Armazenamento e interface dos dados para que seja oferecidas as áreas de negócio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38" name="Google Shape;238;p27"/>
          <p:cNvSpPr/>
          <p:nvPr/>
        </p:nvSpPr>
        <p:spPr>
          <a:xfrm>
            <a:off x="4804175" y="3793512"/>
            <a:ext cx="1803900" cy="153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800">
                <a:solidFill>
                  <a:schemeClr val="dk2"/>
                </a:solidFill>
              </a:rPr>
              <a:t>(Execução em Docker*)</a:t>
            </a:r>
            <a:endParaRPr b="1" sz="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28"/>
          <p:cNvSpPr/>
          <p:nvPr/>
        </p:nvSpPr>
        <p:spPr>
          <a:xfrm>
            <a:off x="-113" y="0"/>
            <a:ext cx="9144000" cy="5143500"/>
          </a:xfrm>
          <a:prstGeom prst="rect">
            <a:avLst/>
          </a:prstGeom>
          <a:solidFill>
            <a:srgbClr val="00364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28"/>
          <p:cNvSpPr txBox="1"/>
          <p:nvPr/>
        </p:nvSpPr>
        <p:spPr>
          <a:xfrm>
            <a:off x="6479521" y="4784969"/>
            <a:ext cx="2593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Resolvendo o problema</a:t>
            </a:r>
            <a:endParaRPr sz="800">
              <a:solidFill>
                <a:schemeClr val="lt1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245" name="Google Shape;245;p28"/>
          <p:cNvSpPr txBox="1"/>
          <p:nvPr/>
        </p:nvSpPr>
        <p:spPr>
          <a:xfrm>
            <a:off x="498750" y="2033100"/>
            <a:ext cx="8146500" cy="10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9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APRESENTAÇÃO DO FUNCIONAMENTO DO PROJETO</a:t>
            </a:r>
            <a:endParaRPr sz="11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29"/>
          <p:cNvSpPr/>
          <p:nvPr/>
        </p:nvSpPr>
        <p:spPr>
          <a:xfrm>
            <a:off x="-100" y="0"/>
            <a:ext cx="4572000" cy="5143500"/>
          </a:xfrm>
          <a:prstGeom prst="rect">
            <a:avLst/>
          </a:prstGeom>
          <a:solidFill>
            <a:srgbClr val="00364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29"/>
          <p:cNvSpPr txBox="1"/>
          <p:nvPr/>
        </p:nvSpPr>
        <p:spPr>
          <a:xfrm>
            <a:off x="6479521" y="4784969"/>
            <a:ext cx="2593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00364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Insights Finais</a:t>
            </a:r>
            <a:endParaRPr sz="800">
              <a:solidFill>
                <a:srgbClr val="003641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252" name="Google Shape;252;p29"/>
          <p:cNvSpPr txBox="1"/>
          <p:nvPr/>
        </p:nvSpPr>
        <p:spPr>
          <a:xfrm>
            <a:off x="224305" y="143975"/>
            <a:ext cx="41232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SE ESSE PROJETO FOSSE PARA PRODUÇÃO </a:t>
            </a:r>
            <a:r>
              <a:rPr b="1" lang="en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PODERÍAMOS</a:t>
            </a:r>
            <a:r>
              <a:rPr b="1" lang="en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PENSAR NOS SEGUINTES ASPECTOS</a:t>
            </a:r>
            <a:endParaRPr sz="12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53" name="Google Shape;253;p29"/>
          <p:cNvSpPr txBox="1"/>
          <p:nvPr/>
        </p:nvSpPr>
        <p:spPr>
          <a:xfrm>
            <a:off x="224305" y="869447"/>
            <a:ext cx="4123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Negócios</a:t>
            </a:r>
            <a:endParaRPr sz="12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54" name="Google Shape;254;p29"/>
          <p:cNvSpPr txBox="1"/>
          <p:nvPr/>
        </p:nvSpPr>
        <p:spPr>
          <a:xfrm>
            <a:off x="199100" y="1326472"/>
            <a:ext cx="4173600" cy="14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Helvetica Neue"/>
              <a:buChar char="●"/>
            </a:pPr>
            <a:r>
              <a:rPr lang="en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Ranking de cooperados: Bonificação</a:t>
            </a:r>
            <a:endParaRPr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Helvetica Neue"/>
              <a:buChar char="●"/>
            </a:pPr>
            <a:r>
              <a:rPr lang="en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Previsão de demanda: Data Science</a:t>
            </a:r>
            <a:endParaRPr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Helvetica Neue"/>
              <a:buChar char="●"/>
            </a:pPr>
            <a:r>
              <a:rPr lang="en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Análises comerciais avançadas, como churn, RFM, segmentações</a:t>
            </a:r>
            <a:endParaRPr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55" name="Google Shape;255;p29"/>
          <p:cNvSpPr txBox="1"/>
          <p:nvPr/>
        </p:nvSpPr>
        <p:spPr>
          <a:xfrm>
            <a:off x="4754075" y="1326472"/>
            <a:ext cx="4173600" cy="169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3641"/>
              </a:buClr>
              <a:buSzPts val="1400"/>
              <a:buChar char="●"/>
            </a:pPr>
            <a:r>
              <a:rPr lang="en">
                <a:solidFill>
                  <a:srgbClr val="003641"/>
                </a:solidFill>
              </a:rPr>
              <a:t>Carga Incremental</a:t>
            </a:r>
            <a:endParaRPr>
              <a:solidFill>
                <a:srgbClr val="00364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364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3641"/>
              </a:buClr>
              <a:buSzPts val="1400"/>
              <a:buChar char="●"/>
            </a:pPr>
            <a:r>
              <a:rPr lang="en">
                <a:solidFill>
                  <a:srgbClr val="003641"/>
                </a:solidFill>
              </a:rPr>
              <a:t>Conectar os dados da camada Gold a uma ferramenta de BI</a:t>
            </a:r>
            <a:endParaRPr>
              <a:solidFill>
                <a:srgbClr val="00364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364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3641"/>
              </a:buClr>
              <a:buSzPts val="1400"/>
              <a:buChar char="●"/>
            </a:pPr>
            <a:r>
              <a:rPr lang="en">
                <a:solidFill>
                  <a:srgbClr val="003641"/>
                </a:solidFill>
              </a:rPr>
              <a:t>Sistema interno de padronização de entrada de dados</a:t>
            </a:r>
            <a:endParaRPr>
              <a:solidFill>
                <a:srgbClr val="003641"/>
              </a:solidFill>
            </a:endParaRPr>
          </a:p>
        </p:txBody>
      </p:sp>
      <p:sp>
        <p:nvSpPr>
          <p:cNvPr id="256" name="Google Shape;256;p29"/>
          <p:cNvSpPr txBox="1"/>
          <p:nvPr/>
        </p:nvSpPr>
        <p:spPr>
          <a:xfrm>
            <a:off x="4779280" y="869447"/>
            <a:ext cx="4123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00364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Técnicos</a:t>
            </a:r>
            <a:endParaRPr sz="1200">
              <a:solidFill>
                <a:srgbClr val="00364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0"/>
          <p:cNvSpPr txBox="1"/>
          <p:nvPr/>
        </p:nvSpPr>
        <p:spPr>
          <a:xfrm>
            <a:off x="6479521" y="4784969"/>
            <a:ext cx="2593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00364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Insights Finais</a:t>
            </a:r>
            <a:endParaRPr sz="800">
              <a:solidFill>
                <a:srgbClr val="003641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262" name="Google Shape;262;p30"/>
          <p:cNvSpPr txBox="1"/>
          <p:nvPr/>
        </p:nvSpPr>
        <p:spPr>
          <a:xfrm>
            <a:off x="146700" y="110450"/>
            <a:ext cx="7785300" cy="19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900">
                <a:solidFill>
                  <a:srgbClr val="00364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SEGURANÇA DE DADOS: GARANTIA DA CONFIANÇA DO CLIENTE E DO COOPERADO. ALÉM DE CONFIANÇA NO PRÓPRIO PROCESSO.</a:t>
            </a:r>
            <a:endParaRPr sz="1100">
              <a:solidFill>
                <a:srgbClr val="00364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63" name="Google Shape;263;p30"/>
          <p:cNvSpPr/>
          <p:nvPr/>
        </p:nvSpPr>
        <p:spPr>
          <a:xfrm>
            <a:off x="1097450" y="2346700"/>
            <a:ext cx="1803900" cy="10617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Variáveis de Ambiente</a:t>
            </a:r>
            <a:endParaRPr>
              <a:solidFill>
                <a:srgbClr val="666666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64" name="Google Shape;264;p30"/>
          <p:cNvSpPr/>
          <p:nvPr/>
        </p:nvSpPr>
        <p:spPr>
          <a:xfrm>
            <a:off x="3670050" y="2346700"/>
            <a:ext cx="1803900" cy="10617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Definição de Roles de acesso no banco de dados</a:t>
            </a:r>
            <a:endParaRPr>
              <a:solidFill>
                <a:srgbClr val="666666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65" name="Google Shape;265;p30"/>
          <p:cNvSpPr/>
          <p:nvPr/>
        </p:nvSpPr>
        <p:spPr>
          <a:xfrm>
            <a:off x="6242650" y="2346700"/>
            <a:ext cx="1803900" cy="10617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Criptografía</a:t>
            </a:r>
            <a:r>
              <a:rPr lang="en">
                <a:solidFill>
                  <a:srgbClr val="666666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de dados</a:t>
            </a:r>
            <a:endParaRPr>
              <a:solidFill>
                <a:srgbClr val="666666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66" name="Google Shape;266;p30"/>
          <p:cNvSpPr/>
          <p:nvPr/>
        </p:nvSpPr>
        <p:spPr>
          <a:xfrm>
            <a:off x="2407575" y="3674550"/>
            <a:ext cx="1803900" cy="10617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Habilitar pg_audit</a:t>
            </a:r>
            <a:endParaRPr>
              <a:solidFill>
                <a:srgbClr val="666666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67" name="Google Shape;267;p30"/>
          <p:cNvSpPr/>
          <p:nvPr/>
        </p:nvSpPr>
        <p:spPr>
          <a:xfrm>
            <a:off x="4954550" y="3674550"/>
            <a:ext cx="1803900" cy="10617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Backup Automatizado</a:t>
            </a:r>
            <a:endParaRPr>
              <a:solidFill>
                <a:srgbClr val="666666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1"/>
          <p:cNvSpPr/>
          <p:nvPr/>
        </p:nvSpPr>
        <p:spPr>
          <a:xfrm>
            <a:off x="-113" y="0"/>
            <a:ext cx="9144000" cy="5143500"/>
          </a:xfrm>
          <a:prstGeom prst="rect">
            <a:avLst/>
          </a:prstGeom>
          <a:solidFill>
            <a:srgbClr val="00364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31"/>
          <p:cNvSpPr txBox="1"/>
          <p:nvPr/>
        </p:nvSpPr>
        <p:spPr>
          <a:xfrm>
            <a:off x="290375" y="266950"/>
            <a:ext cx="3116700" cy="6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9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OBRIGADO!</a:t>
            </a:r>
            <a:endParaRPr sz="11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74" name="Google Shape;274;p31"/>
          <p:cNvSpPr txBox="1"/>
          <p:nvPr/>
        </p:nvSpPr>
        <p:spPr>
          <a:xfrm>
            <a:off x="5211075" y="4602800"/>
            <a:ext cx="38772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EDUARDO BRAGA BONFIM</a:t>
            </a:r>
            <a:endParaRPr sz="10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14/05/2026</a:t>
            </a:r>
            <a:endParaRPr sz="1000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