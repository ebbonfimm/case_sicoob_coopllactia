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Helvetica Neue"/>
      <p:regular r:id="rId22"/>
      <p:bold r:id="rId23"/>
      <p:italic r:id="rId24"/>
      <p:boldItalic r:id="rId25"/>
    </p:embeddedFont>
    <p:embeddedFont>
      <p:font typeface="Helvetica Neue Light"/>
      <p:regular r:id="rId26"/>
      <p:bold r:id="rId27"/>
      <p:italic r:id="rId28"/>
      <p:boldItalic r:id="rId29"/>
    </p:embeddedFont>
    <p:embeddedFont>
      <p:font typeface="Roboto Mon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HelveticaNeue-regular.fntdata"/><Relationship Id="rId21" Type="http://schemas.openxmlformats.org/officeDocument/2006/relationships/slide" Target="slides/slide16.xml"/><Relationship Id="rId24" Type="http://schemas.openxmlformats.org/officeDocument/2006/relationships/font" Target="fonts/HelveticaNeue-italic.fntdata"/><Relationship Id="rId23" Type="http://schemas.openxmlformats.org/officeDocument/2006/relationships/font" Target="fonts/HelveticaNeue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HelveticaNeueLight-regular.fntdata"/><Relationship Id="rId25" Type="http://schemas.openxmlformats.org/officeDocument/2006/relationships/font" Target="fonts/HelveticaNeue-boldItalic.fntdata"/><Relationship Id="rId28" Type="http://schemas.openxmlformats.org/officeDocument/2006/relationships/font" Target="fonts/HelveticaNeueLight-italic.fntdata"/><Relationship Id="rId27" Type="http://schemas.openxmlformats.org/officeDocument/2006/relationships/font" Target="fonts/HelveticaNeue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HelveticaNeueL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Mono-bold.fntdata"/><Relationship Id="rId30" Type="http://schemas.openxmlformats.org/officeDocument/2006/relationships/font" Target="fonts/RobotoMono-regular.fntdata"/><Relationship Id="rId11" Type="http://schemas.openxmlformats.org/officeDocument/2006/relationships/slide" Target="slides/slide6.xml"/><Relationship Id="rId33" Type="http://schemas.openxmlformats.org/officeDocument/2006/relationships/font" Target="fonts/RobotoMono-boldItalic.fntdata"/><Relationship Id="rId10" Type="http://schemas.openxmlformats.org/officeDocument/2006/relationships/slide" Target="slides/slide5.xml"/><Relationship Id="rId32" Type="http://schemas.openxmlformats.org/officeDocument/2006/relationships/font" Target="fonts/RobotoMon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highlight>
                  <a:srgbClr val="FFFFFF"/>
                </a:highlight>
              </a:rPr>
              <a:t>Nos últimos anos, a cooperativa cresceu em volume de operações, número de cooperados,</a:t>
            </a:r>
            <a:endParaRPr sz="12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highlight>
                  <a:srgbClr val="FFFFFF"/>
                </a:highlight>
              </a:rPr>
              <a:t>variedade de produtos e abrangência logística. Com isso, os dados passaram a surgir de</a:t>
            </a:r>
            <a:endParaRPr sz="12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300">
                <a:solidFill>
                  <a:schemeClr val="dk1"/>
                </a:solidFill>
                <a:highlight>
                  <a:srgbClr val="FFFFFF"/>
                </a:highlight>
              </a:rPr>
              <a:t>diferentes frentes do negócio, sem padronização adequada e com pouca governança.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cooperados</a:t>
            </a:r>
            <a:r>
              <a:rPr lang="en">
                <a:solidFill>
                  <a:schemeClr val="dk1"/>
                </a:solidFill>
              </a:rPr>
              <a:t> — quem é a pessoa ou empresa associada à cooperativa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id_cooperado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cpf_cnpj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data_adesao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situacao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situacao</a:t>
            </a:r>
            <a:r>
              <a:rPr lang="en">
                <a:solidFill>
                  <a:schemeClr val="dk1"/>
                </a:solidFill>
              </a:rPr>
              <a:t> com capitalização inconsistente, datas mal formatadas, duplicatas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fazendas</a:t>
            </a:r>
            <a:r>
              <a:rPr lang="en">
                <a:solidFill>
                  <a:schemeClr val="dk1"/>
                </a:solidFill>
              </a:rPr>
              <a:t> — as propriedades pertencentes a um cooperado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id_fazenda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id_cooperado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nome_fazenda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municipio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area_hectares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qtd_animais_lactacao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raca_predominante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nulos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area_hectares</a:t>
            </a:r>
            <a:r>
              <a:rPr lang="en">
                <a:solidFill>
                  <a:schemeClr val="dk1"/>
                </a:solidFill>
              </a:rPr>
              <a:t>,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raca_predominante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coletas</a:t>
            </a:r>
            <a:r>
              <a:rPr lang="en">
                <a:solidFill>
                  <a:schemeClr val="dk1"/>
                </a:solidFill>
              </a:rPr>
              <a:t> — registro diário do volume de leite coletado em cada fazenda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id_coleta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id_fazenda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data_coleta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volume_litros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temperatura_c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gordura_pct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proteina_pct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acidez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volume negativo, datas mal formatadas, nulos em campos de qualidade do leite, duplicatas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rotas</a:t>
            </a:r>
            <a:r>
              <a:rPr lang="en">
                <a:solidFill>
                  <a:schemeClr val="dk1"/>
                </a:solidFill>
              </a:rPr>
              <a:t> — os trajetos utilizados para coleta e entrega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municipio_origem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km_total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veiculo_tipo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ativa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Sem problemas graves — tabela pequena e estável.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produtos</a:t>
            </a:r>
            <a:r>
              <a:rPr lang="en">
                <a:solidFill>
                  <a:schemeClr val="dk1"/>
                </a:solidFill>
              </a:rPr>
              <a:t> — catálogo de produtos fabricados pela cooperativa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categoria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unidade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preco_venda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custo_unitario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ativo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preco_venda</a:t>
            </a:r>
            <a:r>
              <a:rPr lang="en">
                <a:solidFill>
                  <a:schemeClr val="dk1"/>
                </a:solidFill>
              </a:rPr>
              <a:t> zerado em alguns registros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producao</a:t>
            </a:r>
            <a:r>
              <a:rPr lang="en">
                <a:solidFill>
                  <a:schemeClr val="dk1"/>
                </a:solidFill>
              </a:rPr>
              <a:t> — ordens de produção na planta industrial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linha_producao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volume_entrada_litros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volume_saida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custo_total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lote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validade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linha_producao</a:t>
            </a:r>
            <a:r>
              <a:rPr lang="en">
                <a:solidFill>
                  <a:schemeClr val="dk1"/>
                </a:solidFill>
              </a:rPr>
              <a:t>, nulos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custo_total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clientes</a:t>
            </a:r>
            <a:r>
              <a:rPr lang="en">
                <a:solidFill>
                  <a:schemeClr val="dk1"/>
                </a:solidFill>
              </a:rPr>
              <a:t> — empresas ou pessoas que compram os produtos da cooperativa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id_cliente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nome_cliente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segmento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estado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cidade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cnpj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ativo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nulos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cidade</a:t>
            </a:r>
            <a:r>
              <a:rPr lang="en">
                <a:solidFill>
                  <a:schemeClr val="dk1"/>
                </a:solidFill>
              </a:rPr>
              <a:t> 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cnpj</a:t>
            </a:r>
            <a:r>
              <a:rPr lang="en">
                <a:solidFill>
                  <a:schemeClr val="dk1"/>
                </a:solidFill>
              </a:rPr>
              <a:t>,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segmento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pedidos</a:t>
            </a:r>
            <a:r>
              <a:rPr lang="en">
                <a:solidFill>
                  <a:schemeClr val="dk1"/>
                </a:solidFill>
              </a:rPr>
              <a:t> — cabeçalho de cada pedido de venda realizado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id_cliente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status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canal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desconto_pct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duplicatas, datas mal formatadas,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status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itens_pedido</a:t>
            </a:r>
            <a:r>
              <a:rPr lang="en">
                <a:solidFill>
                  <a:schemeClr val="dk1"/>
                </a:solidFill>
              </a:rPr>
              <a:t> — os produtos dentro de cada pedido, com quantidade e preço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id_item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quantidade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preco_unitario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valor_total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preco_unitario</a:t>
            </a:r>
            <a:r>
              <a:rPr lang="en">
                <a:solidFill>
                  <a:schemeClr val="dk1"/>
                </a:solidFill>
              </a:rPr>
              <a:t> negativo em alguns registros,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valor_total</a:t>
            </a:r>
            <a:r>
              <a:rPr lang="en">
                <a:solidFill>
                  <a:schemeClr val="dk1"/>
                </a:solidFill>
              </a:rPr>
              <a:t> nulo (será imputado depois)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entregas</a:t>
            </a:r>
            <a:r>
              <a:rPr lang="en">
                <a:solidFill>
                  <a:schemeClr val="dk1"/>
                </a:solidFill>
              </a:rPr>
              <a:t> — execução logística de cada pedido, com prazo e custo de frete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id_entrega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data_prevista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data_realizada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status_entrega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km_percorrido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custo_frete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ocorrencia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data_realizada</a:t>
            </a:r>
            <a:r>
              <a:rPr lang="en">
                <a:solidFill>
                  <a:schemeClr val="dk1"/>
                </a:solidFill>
              </a:rPr>
              <a:t> nula para entregas pendentes, datas mal formatadas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custos_operacionais</a:t>
            </a:r>
            <a:r>
              <a:rPr lang="en">
                <a:solidFill>
                  <a:schemeClr val="dk1"/>
                </a:solidFill>
              </a:rPr>
              <a:t> — custos fixos e variáveis registrados por centro de custo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id_custo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centro_custo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tipo_custo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descricao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data_referencia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competencia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tipo_custo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perdas</a:t>
            </a:r>
            <a:r>
              <a:rPr lang="en">
                <a:solidFill>
                  <a:schemeClr val="dk1"/>
                </a:solidFill>
              </a:rPr>
              <a:t> — ocorrências de perda de volume ou valor em qualquer etapa da cadeia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id_perda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etapa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tipo_perda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data_perda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volume_litros_ou_kg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valor_estimado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id_cooperado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id_entrega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descricao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os três IDs são opcionais dependendo da etapa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github.com/ebbonfimm/case_sicoob_coopllact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5374525" y="1039600"/>
            <a:ext cx="3116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COOPLLACTIA COOP LTDA</a:t>
            </a:r>
            <a:endParaRPr b="1" i="0" sz="2900" u="none" cap="none" strike="noStrike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CASE PRÁTICO - SICOOB CREDICOM</a:t>
            </a:r>
            <a:endParaRPr b="0" i="0" sz="11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211075" y="4602800"/>
            <a:ext cx="3877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EDUARDO BRAGA BONFIM</a:t>
            </a:r>
            <a:endParaRPr b="0" i="0" sz="10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14/05/2026</a:t>
            </a:r>
            <a:endParaRPr b="0" i="0" sz="1000" u="none" cap="none" strike="noStrike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5132603" y="0"/>
            <a:ext cx="675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-132" y="0"/>
            <a:ext cx="32931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340000" y="331300"/>
            <a:ext cx="31167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SOBRE O QUE VAMOS CONVERSAR HOJE?</a:t>
            </a:r>
            <a:endParaRPr b="0"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4197650" y="540000"/>
            <a:ext cx="41736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1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Entendimento do problema:</a:t>
            </a: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Fase Inicial, desenho, pesquisas e questionamentos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1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Quais são os principais pontos que contribuem para o crescimento do negócio?:</a:t>
            </a: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Perguntas fundamentais, quais análises estamos buscando e quais dados responderão as perguntas.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1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Modelagem da solução: </a:t>
            </a:r>
            <a:r>
              <a:rPr b="0" i="0" lang="en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Modelagem do banco, ferramentas envolvidas no projeto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1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Resolvendo o problema:</a:t>
            </a: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Assista o projeto funcionando na prática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1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Insights finais:</a:t>
            </a: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rPr>
              <a:t>O que descobrimos com tudo isso e quais serão os próximos passos?</a:t>
            </a:r>
            <a:endParaRPr b="0" i="0" sz="1400" u="none" cap="none" strike="noStrik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>
            <a:off x="-113" y="0"/>
            <a:ext cx="9144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5755950" y="3829325"/>
            <a:ext cx="31167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VAMOS EM FRENTE!</a:t>
            </a:r>
            <a:endParaRPr b="0"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64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/>
          <p:nvPr/>
        </p:nvSpPr>
        <p:spPr>
          <a:xfrm>
            <a:off x="-132" y="0"/>
            <a:ext cx="32931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00697" y="331300"/>
            <a:ext cx="31167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CRESCEMOS…</a:t>
            </a:r>
            <a:endParaRPr b="0" i="0" sz="29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 AGORA?</a:t>
            </a:r>
            <a:endParaRPr b="1" i="0" sz="29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4197650" y="540000"/>
            <a:ext cx="41736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Aumento no números de cooperados, refletindo em </a:t>
            </a:r>
            <a:r>
              <a:rPr b="1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novos dados sendo gerados</a:t>
            </a: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de forma recorrente</a:t>
            </a:r>
            <a:r>
              <a:rPr lang="en">
                <a:solidFill>
                  <a:schemeClr val="lt1"/>
                </a:solidFill>
              </a:rPr>
              <a:t> </a:t>
            </a:r>
            <a:r>
              <a:rPr b="1" lang="en">
                <a:solidFill>
                  <a:schemeClr val="lt1"/>
                </a:solidFill>
              </a:rPr>
              <a:t>e em diferentes formatos</a:t>
            </a:r>
            <a:b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Crescimento da produção e comercialização refletindo no aumento de esforços operativos, resultando também em um </a:t>
            </a:r>
            <a:r>
              <a:rPr b="1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volume de dados maior</a:t>
            </a: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que precisam ser normalizados.</a:t>
            </a:r>
            <a:b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Expansão na variedade de produtos </a:t>
            </a:r>
            <a:b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processados a partir do leite, o que requer uma estrutura de dados que permita analisar </a:t>
            </a:r>
            <a:r>
              <a:rPr b="1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lucratividade </a:t>
            </a:r>
            <a:r>
              <a:rPr b="0" i="0" lang="en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 comercialização para os canais de distribuição.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b="0" i="0" sz="8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/>
        </p:nvSpPr>
        <p:spPr>
          <a:xfrm>
            <a:off x="340000" y="331300"/>
            <a:ext cx="3116700" cy="24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QUEREMOS NOS TORNAR A </a:t>
            </a:r>
            <a:r>
              <a:rPr b="1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PRINCIPAL FORNECEDORA DA REGIÃO</a:t>
            </a:r>
            <a:endParaRPr b="1" i="0" sz="11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1066800" y="3591900"/>
            <a:ext cx="3188700" cy="914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REDUZINDO CUSTOS</a:t>
            </a:r>
            <a:endParaRPr b="0" i="0" sz="14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5" name="Google Shape;85;p17"/>
          <p:cNvSpPr/>
          <p:nvPr/>
        </p:nvSpPr>
        <p:spPr>
          <a:xfrm>
            <a:off x="4888500" y="3591900"/>
            <a:ext cx="3188700" cy="914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AUMENTANDO EFICIÊNCIA OPERACIONAL</a:t>
            </a:r>
            <a:endParaRPr b="0" i="0" sz="14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/>
        </p:nvSpPr>
        <p:spPr>
          <a:xfrm>
            <a:off x="146700" y="110450"/>
            <a:ext cx="77853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PRIMEIRO É PRECISO ENTENDER</a:t>
            </a:r>
            <a:r>
              <a:rPr b="1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b="1" i="0" sz="29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COMO TUDO FUNCIONA</a:t>
            </a:r>
            <a:endParaRPr b="0" i="0" sz="11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92" name="Google Shape;9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0650" y="1187750"/>
            <a:ext cx="7662688" cy="36509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8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64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/>
        </p:nvSpPr>
        <p:spPr>
          <a:xfrm>
            <a:off x="498750" y="1308250"/>
            <a:ext cx="8146500" cy="24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 DESAFIO ESTÁ EM PROCESSAR E LIDAR COM DADOS VINDOS DE </a:t>
            </a: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DIFERENTES FONTES, FORMATOS DISTINTOS</a:t>
            </a:r>
            <a:r>
              <a:rPr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MAS QUE PRECISAM SE TORNAR A MESMA COISA NO FINAL DO PIPELINE.</a:t>
            </a:r>
            <a:endParaRPr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b="0" i="0" sz="8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/>
          <p:nvPr/>
        </p:nvSpPr>
        <p:spPr>
          <a:xfrm>
            <a:off x="286675" y="2425209"/>
            <a:ext cx="8537400" cy="2205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Comercial</a:t>
            </a:r>
            <a:endParaRPr sz="10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5" name="Google Shape;105;p20"/>
          <p:cNvSpPr/>
          <p:nvPr/>
        </p:nvSpPr>
        <p:spPr>
          <a:xfrm>
            <a:off x="286675" y="1187750"/>
            <a:ext cx="8537400" cy="119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Operacional</a:t>
            </a:r>
            <a:endParaRPr sz="10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6" name="Google Shape;106;p20"/>
          <p:cNvSpPr txBox="1"/>
          <p:nvPr/>
        </p:nvSpPr>
        <p:spPr>
          <a:xfrm>
            <a:off x="146700" y="110450"/>
            <a:ext cx="77853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ESSES SÃO OS DADOS QUE TRADUZEM A REALIDADE DO NEGÓCIO</a:t>
            </a:r>
            <a:endParaRPr b="0" i="0" sz="11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7" name="Google Shape;107;p20"/>
          <p:cNvSpPr/>
          <p:nvPr/>
        </p:nvSpPr>
        <p:spPr>
          <a:xfrm>
            <a:off x="409540" y="156244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cooperado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8" name="Google Shape;108;p20"/>
          <p:cNvSpPr/>
          <p:nvPr/>
        </p:nvSpPr>
        <p:spPr>
          <a:xfrm>
            <a:off x="2231384" y="156244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fazenda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9" name="Google Shape;109;p20"/>
          <p:cNvSpPr txBox="1"/>
          <p:nvPr/>
        </p:nvSpPr>
        <p:spPr>
          <a:xfrm>
            <a:off x="469090" y="2020845"/>
            <a:ext cx="14319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quem é a pessoa/empresa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0"/>
          <p:cNvSpPr txBox="1"/>
          <p:nvPr/>
        </p:nvSpPr>
        <p:spPr>
          <a:xfrm>
            <a:off x="2215640" y="2020845"/>
            <a:ext cx="15825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 propriedades do cooperado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0"/>
          <p:cNvSpPr/>
          <p:nvPr/>
        </p:nvSpPr>
        <p:spPr>
          <a:xfrm>
            <a:off x="4382933" y="156244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4367190" y="2020845"/>
            <a:ext cx="15825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registro diário do volume de leite coletado em cada fazenda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3" name="Google Shape;113;p20"/>
          <p:cNvCxnSpPr>
            <a:stCxn id="107" idx="3"/>
            <a:endCxn id="108" idx="1"/>
          </p:cNvCxnSpPr>
          <p:nvPr/>
        </p:nvCxnSpPr>
        <p:spPr>
          <a:xfrm>
            <a:off x="1960540" y="1791645"/>
            <a:ext cx="270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4" name="Google Shape;114;p20"/>
          <p:cNvCxnSpPr>
            <a:stCxn id="108" idx="3"/>
            <a:endCxn id="111" idx="1"/>
          </p:cNvCxnSpPr>
          <p:nvPr/>
        </p:nvCxnSpPr>
        <p:spPr>
          <a:xfrm>
            <a:off x="3782384" y="1791645"/>
            <a:ext cx="600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5" name="Google Shape;115;p20"/>
          <p:cNvSpPr/>
          <p:nvPr/>
        </p:nvSpPr>
        <p:spPr>
          <a:xfrm>
            <a:off x="399000" y="24555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produto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6" name="Google Shape;116;p20"/>
          <p:cNvSpPr txBox="1"/>
          <p:nvPr/>
        </p:nvSpPr>
        <p:spPr>
          <a:xfrm>
            <a:off x="458550" y="29139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catálogo de produtos fabricados pela cooperativa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0"/>
          <p:cNvSpPr/>
          <p:nvPr/>
        </p:nvSpPr>
        <p:spPr>
          <a:xfrm>
            <a:off x="2592083" y="24555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producao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8" name="Google Shape;118;p20"/>
          <p:cNvSpPr txBox="1"/>
          <p:nvPr/>
        </p:nvSpPr>
        <p:spPr>
          <a:xfrm>
            <a:off x="2651640" y="29139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ordens de produção na planta industrial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0"/>
          <p:cNvSpPr/>
          <p:nvPr/>
        </p:nvSpPr>
        <p:spPr>
          <a:xfrm>
            <a:off x="399000" y="37299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cliente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458550" y="41883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empresas ou pessoas que compram os produtos da cooperativa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20"/>
          <p:cNvCxnSpPr>
            <a:stCxn id="115" idx="3"/>
            <a:endCxn id="117" idx="1"/>
          </p:cNvCxnSpPr>
          <p:nvPr/>
        </p:nvCxnSpPr>
        <p:spPr>
          <a:xfrm>
            <a:off x="1950000" y="2684725"/>
            <a:ext cx="64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2" name="Google Shape;122;p20"/>
          <p:cNvSpPr/>
          <p:nvPr/>
        </p:nvSpPr>
        <p:spPr>
          <a:xfrm>
            <a:off x="4372393" y="37299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pedido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4431950" y="41883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cabeçalho de cada pedido de venda realizado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20"/>
          <p:cNvCxnSpPr>
            <a:stCxn id="119" idx="3"/>
            <a:endCxn id="122" idx="1"/>
          </p:cNvCxnSpPr>
          <p:nvPr/>
        </p:nvCxnSpPr>
        <p:spPr>
          <a:xfrm>
            <a:off x="1950000" y="3959125"/>
            <a:ext cx="2422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5" name="Google Shape;125;p20"/>
          <p:cNvSpPr/>
          <p:nvPr/>
        </p:nvSpPr>
        <p:spPr>
          <a:xfrm>
            <a:off x="6380993" y="37299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itens_pedido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6440550" y="41883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os produtos dentro de cada pedido, com quantidade e preço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" name="Google Shape;127;p20"/>
          <p:cNvCxnSpPr>
            <a:stCxn id="122" idx="3"/>
            <a:endCxn id="125" idx="1"/>
          </p:cNvCxnSpPr>
          <p:nvPr/>
        </p:nvCxnSpPr>
        <p:spPr>
          <a:xfrm>
            <a:off x="5923393" y="3959125"/>
            <a:ext cx="45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28" name="Google Shape;128;p20"/>
          <p:cNvCxnSpPr>
            <a:stCxn id="116" idx="2"/>
            <a:endCxn id="125" idx="0"/>
          </p:cNvCxnSpPr>
          <p:nvPr/>
        </p:nvCxnSpPr>
        <p:spPr>
          <a:xfrm>
            <a:off x="1174500" y="3203725"/>
            <a:ext cx="5982000" cy="526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9" name="Google Shape;129;p20"/>
          <p:cNvSpPr/>
          <p:nvPr/>
        </p:nvSpPr>
        <p:spPr>
          <a:xfrm>
            <a:off x="7057083" y="156244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rota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" name="Google Shape;130;p20"/>
          <p:cNvSpPr txBox="1"/>
          <p:nvPr/>
        </p:nvSpPr>
        <p:spPr>
          <a:xfrm>
            <a:off x="7041340" y="2020845"/>
            <a:ext cx="15825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os trajetos utilizados para coleta e entrega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" name="Google Shape;131;p20"/>
          <p:cNvCxnSpPr>
            <a:stCxn id="129" idx="1"/>
            <a:endCxn id="111" idx="3"/>
          </p:cNvCxnSpPr>
          <p:nvPr/>
        </p:nvCxnSpPr>
        <p:spPr>
          <a:xfrm rot="10800000">
            <a:off x="5933883" y="1791645"/>
            <a:ext cx="112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2" name="Google Shape;132;p20"/>
          <p:cNvSpPr/>
          <p:nvPr/>
        </p:nvSpPr>
        <p:spPr>
          <a:xfrm>
            <a:off x="4376398" y="2466379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entrega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3" name="Google Shape;133;p20"/>
          <p:cNvSpPr txBox="1"/>
          <p:nvPr/>
        </p:nvSpPr>
        <p:spPr>
          <a:xfrm>
            <a:off x="4435955" y="2924779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execução logística de cada pedido, com prazo e custo de frete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4" name="Google Shape;134;p20"/>
          <p:cNvCxnSpPr>
            <a:stCxn id="122" idx="0"/>
            <a:endCxn id="133" idx="2"/>
          </p:cNvCxnSpPr>
          <p:nvPr/>
        </p:nvCxnSpPr>
        <p:spPr>
          <a:xfrm flipH="1" rot="10800000">
            <a:off x="5147893" y="3214525"/>
            <a:ext cx="3900" cy="51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5" name="Google Shape;135;p20"/>
          <p:cNvCxnSpPr>
            <a:stCxn id="129" idx="1"/>
            <a:endCxn id="132" idx="3"/>
          </p:cNvCxnSpPr>
          <p:nvPr/>
        </p:nvCxnSpPr>
        <p:spPr>
          <a:xfrm flipH="1">
            <a:off x="5927283" y="1791645"/>
            <a:ext cx="1129800" cy="903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36" name="Google Shape;136;p20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/>
          <p:nvPr/>
        </p:nvSpPr>
        <p:spPr>
          <a:xfrm>
            <a:off x="1667425" y="952800"/>
            <a:ext cx="5818200" cy="3678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Suporte</a:t>
            </a:r>
            <a:endParaRPr sz="10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2" name="Google Shape;142;p21"/>
          <p:cNvSpPr txBox="1"/>
          <p:nvPr/>
        </p:nvSpPr>
        <p:spPr>
          <a:xfrm>
            <a:off x="146700" y="110450"/>
            <a:ext cx="77853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TABELAS ADICIONAIS</a:t>
            </a:r>
            <a:endParaRPr b="0" i="0" sz="11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3" name="Google Shape;143;p21"/>
          <p:cNvSpPr/>
          <p:nvPr/>
        </p:nvSpPr>
        <p:spPr>
          <a:xfrm>
            <a:off x="1819075" y="2114488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perda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1878625" y="2572888"/>
            <a:ext cx="14319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ocorrências de perda de volume ou valor em qualquer etapa da cadeia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1"/>
          <p:cNvSpPr/>
          <p:nvPr/>
        </p:nvSpPr>
        <p:spPr>
          <a:xfrm>
            <a:off x="1819075" y="3500463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6" name="Google Shape;146;p21"/>
          <p:cNvSpPr txBox="1"/>
          <p:nvPr/>
        </p:nvSpPr>
        <p:spPr>
          <a:xfrm>
            <a:off x="1878625" y="3958863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custos fixos e variáveis registrados por centro de custo </a:t>
            </a:r>
            <a:endParaRPr b="0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1"/>
          <p:cNvSpPr/>
          <p:nvPr/>
        </p:nvSpPr>
        <p:spPr>
          <a:xfrm>
            <a:off x="5773925" y="1326638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cooperado</a:t>
            </a:r>
            <a:endParaRPr b="0" i="0" sz="1400" u="none" cap="none" strike="noStrike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8" name="Google Shape;148;p21"/>
          <p:cNvSpPr/>
          <p:nvPr/>
        </p:nvSpPr>
        <p:spPr>
          <a:xfrm>
            <a:off x="5773933" y="2114488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producao</a:t>
            </a:r>
            <a:endParaRPr b="0" i="0" sz="1400" u="none" cap="none" strike="noStrike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9" name="Google Shape;149;p21"/>
          <p:cNvSpPr/>
          <p:nvPr/>
        </p:nvSpPr>
        <p:spPr>
          <a:xfrm>
            <a:off x="5773923" y="2902342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entrega</a:t>
            </a:r>
            <a:endParaRPr b="0" i="0" sz="1400" u="none" cap="none" strike="noStrike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50" name="Google Shape;150;p21"/>
          <p:cNvCxnSpPr>
            <a:stCxn id="143" idx="3"/>
            <a:endCxn id="147" idx="1"/>
          </p:cNvCxnSpPr>
          <p:nvPr/>
        </p:nvCxnSpPr>
        <p:spPr>
          <a:xfrm flipH="1" rot="10800000">
            <a:off x="3370075" y="1555888"/>
            <a:ext cx="2403900" cy="78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stealth"/>
            <a:tailEnd len="sm" w="sm" type="none"/>
          </a:ln>
        </p:spPr>
      </p:cxnSp>
      <p:cxnSp>
        <p:nvCxnSpPr>
          <p:cNvPr id="151" name="Google Shape;151;p21"/>
          <p:cNvCxnSpPr>
            <a:stCxn id="143" idx="3"/>
            <a:endCxn id="148" idx="1"/>
          </p:cNvCxnSpPr>
          <p:nvPr/>
        </p:nvCxnSpPr>
        <p:spPr>
          <a:xfrm>
            <a:off x="3370075" y="2343688"/>
            <a:ext cx="2403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stealth"/>
            <a:tailEnd len="sm" w="sm" type="none"/>
          </a:ln>
        </p:spPr>
      </p:cxnSp>
      <p:cxnSp>
        <p:nvCxnSpPr>
          <p:cNvPr id="152" name="Google Shape;152;p21"/>
          <p:cNvCxnSpPr>
            <a:stCxn id="143" idx="3"/>
            <a:endCxn id="149" idx="1"/>
          </p:cNvCxnSpPr>
          <p:nvPr/>
        </p:nvCxnSpPr>
        <p:spPr>
          <a:xfrm>
            <a:off x="3370075" y="2343688"/>
            <a:ext cx="2403900" cy="78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stealth"/>
            <a:tailEnd len="sm" w="sm" type="none"/>
          </a:ln>
        </p:spPr>
      </p:cxnSp>
      <p:sp>
        <p:nvSpPr>
          <p:cNvPr id="153" name="Google Shape;153;p21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5235" y="1187748"/>
            <a:ext cx="4548241" cy="201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52043" y="3356266"/>
            <a:ext cx="2914601" cy="173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0" name="Google Shape;160;p22"/>
          <p:cNvCxnSpPr/>
          <p:nvPr/>
        </p:nvCxnSpPr>
        <p:spPr>
          <a:xfrm>
            <a:off x="204200" y="3375050"/>
            <a:ext cx="5143500" cy="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61" name="Google Shape;161;p22"/>
          <p:cNvSpPr/>
          <p:nvPr/>
        </p:nvSpPr>
        <p:spPr>
          <a:xfrm>
            <a:off x="-200" y="0"/>
            <a:ext cx="9144000" cy="5166600"/>
          </a:xfrm>
          <a:prstGeom prst="rect">
            <a:avLst/>
          </a:prstGeom>
          <a:solidFill>
            <a:srgbClr val="595959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2"/>
          <p:cNvSpPr txBox="1"/>
          <p:nvPr/>
        </p:nvSpPr>
        <p:spPr>
          <a:xfrm>
            <a:off x="146700" y="110450"/>
            <a:ext cx="80448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IREI FOCAR EM SIMULAR DADOS DE DIFERENTES FORMAS AQUI NESTE PONTO</a:t>
            </a:r>
            <a:endParaRPr b="0" i="0" sz="11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63" name="Google Shape;163;p22"/>
          <p:cNvPicPr preferRelativeResize="0"/>
          <p:nvPr/>
        </p:nvPicPr>
        <p:blipFill rotWithShape="1">
          <a:blip r:embed="rId3">
            <a:alphaModFix/>
          </a:blip>
          <a:srcRect b="33612" l="47149" r="0" t="0"/>
          <a:stretch/>
        </p:blipFill>
        <p:spPr>
          <a:xfrm>
            <a:off x="2679626" y="1187749"/>
            <a:ext cx="2403850" cy="133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2"/>
          <p:cNvPicPr preferRelativeResize="0"/>
          <p:nvPr/>
        </p:nvPicPr>
        <p:blipFill rotWithShape="1">
          <a:blip r:embed="rId3">
            <a:alphaModFix/>
          </a:blip>
          <a:srcRect b="33611" l="25761" r="51791" t="39411"/>
          <a:stretch/>
        </p:blipFill>
        <p:spPr>
          <a:xfrm>
            <a:off x="1706800" y="1983050"/>
            <a:ext cx="1020999" cy="54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2"/>
          <p:cNvSpPr/>
          <p:nvPr/>
        </p:nvSpPr>
        <p:spPr>
          <a:xfrm>
            <a:off x="5685750" y="1206625"/>
            <a:ext cx="3063000" cy="3304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>
                <a:solidFill>
                  <a:schemeClr val="dk2"/>
                </a:solidFill>
              </a:rPr>
              <a:t>Considerando que o principal desafio em um cenário como esse é lidar com dados em vários formato, decidi simular um caso focado no recebimento de dados de coleta e entrega que são fornecidos de forma desestruturada.</a:t>
            </a:r>
            <a:endParaRPr sz="1200">
              <a:solidFill>
                <a:schemeClr val="dk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>
                <a:solidFill>
                  <a:schemeClr val="dk2"/>
                </a:solidFill>
              </a:rPr>
              <a:t>Sendo assim, a camada Bronze do sistema vai receber todas as informações da maneira que foi informada pelo cliente e na sequência o dados vai ser trabalhado para aderir aos requisitos de negócio.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66" name="Google Shape;166;p22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b="0" i="0" sz="8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3"/>
          <p:cNvSpPr/>
          <p:nvPr/>
        </p:nvSpPr>
        <p:spPr>
          <a:xfrm>
            <a:off x="-97" y="0"/>
            <a:ext cx="4572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3"/>
          <p:cNvSpPr txBox="1"/>
          <p:nvPr/>
        </p:nvSpPr>
        <p:spPr>
          <a:xfrm>
            <a:off x="146700" y="110450"/>
            <a:ext cx="4222800" cy="24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ESCOLHA DAS FERRAMENTAS PREZA PELA</a:t>
            </a: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CONSISTÊNCIA,</a:t>
            </a:r>
            <a:endParaRPr b="1" i="0" sz="29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MANUTENABILIDADE E ESCALA</a:t>
            </a:r>
            <a:endParaRPr b="1" i="0" sz="29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3" name="Google Shape;173;p23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Modelagem da solução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74" name="Google Shape;174;p23"/>
          <p:cNvSpPr txBox="1"/>
          <p:nvPr/>
        </p:nvSpPr>
        <p:spPr>
          <a:xfrm>
            <a:off x="4719275" y="540000"/>
            <a:ext cx="41736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Helvetica Neue"/>
              <a:buChar char="●"/>
            </a:pPr>
            <a: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Python</a:t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Helvetica Neue"/>
              <a:buChar char="●"/>
            </a:pPr>
            <a: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dbt</a:t>
            </a:r>
            <a:b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Helvetica Neue"/>
              <a:buChar char="●"/>
            </a:pPr>
            <a: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PostgreSQL</a:t>
            </a:r>
            <a:b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Helvetica Neue"/>
              <a:buChar char="●"/>
            </a:pPr>
            <a: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Docker</a:t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Helvetica Neue"/>
              <a:buChar char="●"/>
            </a:pPr>
            <a: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DBeaver</a:t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Helvetica Neue"/>
              <a:buChar char="●"/>
            </a:pPr>
            <a:r>
              <a:rPr i="0" lang="en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Claude Sonnet e GPT-4o</a:t>
            </a:r>
            <a:endParaRPr i="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/>
          <p:nvPr/>
        </p:nvSpPr>
        <p:spPr>
          <a:xfrm>
            <a:off x="-112" y="0"/>
            <a:ext cx="9144000" cy="7416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 txBox="1"/>
          <p:nvPr/>
        </p:nvSpPr>
        <p:spPr>
          <a:xfrm>
            <a:off x="146700" y="110450"/>
            <a:ext cx="87552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ARQUITETURA</a:t>
            </a:r>
            <a:endParaRPr b="0"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807425" y="1779850"/>
            <a:ext cx="1911900" cy="5145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BRONZE</a:t>
            </a:r>
            <a:endParaRPr b="0" i="0" sz="1400" u="none" cap="none" strike="noStrike"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807425" y="42958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Raw data should be immutable. </a:t>
            </a:r>
            <a:endParaRPr b="0" i="0" sz="800" u="none" cap="none" strike="noStrike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3616050" y="1779850"/>
            <a:ext cx="1911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SILVER</a:t>
            </a:r>
            <a:endParaRPr b="0" i="0" sz="1400" u="none" cap="none" strike="noStrike"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6424675" y="1779850"/>
            <a:ext cx="1911900" cy="514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GOLD</a:t>
            </a:r>
            <a:endParaRPr b="0" i="0" sz="1400" u="none" cap="none" strike="noStrike"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5" name="Google Shape;185;p24"/>
          <p:cNvSpPr/>
          <p:nvPr/>
        </p:nvSpPr>
        <p:spPr>
          <a:xfrm rot="-5400000">
            <a:off x="4480575" y="-2194118"/>
            <a:ext cx="155400" cy="75405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4"/>
          <p:cNvSpPr/>
          <p:nvPr/>
        </p:nvSpPr>
        <p:spPr>
          <a:xfrm>
            <a:off x="788025" y="986025"/>
            <a:ext cx="7540500" cy="38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Camadas Medalhão - Garantia de governança e processos</a:t>
            </a:r>
            <a:endParaRPr b="0" i="0" sz="12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4"/>
          <p:cNvSpPr/>
          <p:nvPr/>
        </p:nvSpPr>
        <p:spPr>
          <a:xfrm>
            <a:off x="807425" y="2294350"/>
            <a:ext cx="1911900" cy="2019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Idempotência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Rastreabilidade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Troubleshooting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Observabilidade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4"/>
          <p:cNvSpPr/>
          <p:nvPr/>
        </p:nvSpPr>
        <p:spPr>
          <a:xfrm>
            <a:off x="3616050" y="42958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Transform Data</a:t>
            </a:r>
            <a:endParaRPr b="0" i="0" sz="800" u="none" cap="none" strike="noStrike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9" name="Google Shape;189;p24"/>
          <p:cNvSpPr/>
          <p:nvPr/>
        </p:nvSpPr>
        <p:spPr>
          <a:xfrm>
            <a:off x="3616050" y="2294350"/>
            <a:ext cx="1911900" cy="2019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 tratamento das inconsistências isolado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Limpeza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Padronização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Deduplicação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Validação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4"/>
          <p:cNvSpPr/>
          <p:nvPr/>
        </p:nvSpPr>
        <p:spPr>
          <a:xfrm>
            <a:off x="6424675" y="42958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Analytics Layer</a:t>
            </a:r>
            <a:endParaRPr b="0" i="0" sz="800" u="none" cap="none" strike="noStrike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1" name="Google Shape;191;p24"/>
          <p:cNvSpPr/>
          <p:nvPr/>
        </p:nvSpPr>
        <p:spPr>
          <a:xfrm>
            <a:off x="6424675" y="2294350"/>
            <a:ext cx="1911900" cy="2019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KPIs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Agregações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-"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Visão Analítica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4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Modelagem da solução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93" name="Google Shape;193;p24"/>
          <p:cNvSpPr/>
          <p:nvPr/>
        </p:nvSpPr>
        <p:spPr>
          <a:xfrm>
            <a:off x="3616050" y="40456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stg_ prefix</a:t>
            </a:r>
            <a:endParaRPr b="1" i="0" sz="800" u="none" cap="none" strike="noStrike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4" name="Google Shape;194;p24"/>
          <p:cNvSpPr/>
          <p:nvPr/>
        </p:nvSpPr>
        <p:spPr>
          <a:xfrm>
            <a:off x="6424675" y="40456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mart_ prefix</a:t>
            </a:r>
            <a:endParaRPr b="1" i="0" sz="800" u="none" cap="none" strike="noStrike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95" name="Google Shape;195;p24"/>
          <p:cNvCxnSpPr>
            <a:stCxn id="187" idx="3"/>
            <a:endCxn id="189" idx="1"/>
          </p:cNvCxnSpPr>
          <p:nvPr/>
        </p:nvCxnSpPr>
        <p:spPr>
          <a:xfrm>
            <a:off x="2719325" y="3303850"/>
            <a:ext cx="896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96" name="Google Shape;196;p24"/>
          <p:cNvCxnSpPr>
            <a:stCxn id="189" idx="3"/>
            <a:endCxn id="191" idx="1"/>
          </p:cNvCxnSpPr>
          <p:nvPr/>
        </p:nvCxnSpPr>
        <p:spPr>
          <a:xfrm>
            <a:off x="5527950" y="3303850"/>
            <a:ext cx="8967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5"/>
          <p:cNvSpPr/>
          <p:nvPr/>
        </p:nvSpPr>
        <p:spPr>
          <a:xfrm>
            <a:off x="-112" y="0"/>
            <a:ext cx="9144000" cy="7416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146700" y="110450"/>
            <a:ext cx="77853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CICLO DE VIDA DOS DADOS</a:t>
            </a:r>
            <a:endParaRPr b="0"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Modelagem da solução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267713" y="1949408"/>
            <a:ext cx="1803900" cy="514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Dados Crus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2535938" y="1949408"/>
            <a:ext cx="1803900" cy="514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dbt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4804164" y="1949408"/>
            <a:ext cx="1803900" cy="514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PostgreSQL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7" name="Google Shape;207;p25"/>
          <p:cNvSpPr/>
          <p:nvPr/>
        </p:nvSpPr>
        <p:spPr>
          <a:xfrm>
            <a:off x="7072389" y="1949408"/>
            <a:ext cx="1803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BI</a:t>
            </a:r>
            <a:endParaRPr b="0" i="0" sz="1400" u="none" cap="none" strike="noStrike"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8" name="Google Shape;208;p25"/>
          <p:cNvSpPr/>
          <p:nvPr/>
        </p:nvSpPr>
        <p:spPr>
          <a:xfrm>
            <a:off x="7072389" y="1210558"/>
            <a:ext cx="1803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 Science</a:t>
            </a:r>
            <a:endParaRPr b="0" i="0" sz="1400" u="none" cap="none" strike="noStrike"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9" name="Google Shape;209;p25"/>
          <p:cNvSpPr/>
          <p:nvPr/>
        </p:nvSpPr>
        <p:spPr>
          <a:xfrm>
            <a:off x="7072389" y="2688258"/>
            <a:ext cx="1803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Gen AI</a:t>
            </a:r>
            <a:endParaRPr b="0" i="0" sz="1400" u="none" cap="none" strike="noStrike"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210" name="Google Shape;210;p25"/>
          <p:cNvCxnSpPr>
            <a:stCxn id="206" idx="3"/>
            <a:endCxn id="208" idx="1"/>
          </p:cNvCxnSpPr>
          <p:nvPr/>
        </p:nvCxnSpPr>
        <p:spPr>
          <a:xfrm flipH="1" rot="10800000">
            <a:off x="6608064" y="1467758"/>
            <a:ext cx="464400" cy="73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sm" w="sm" type="none"/>
            <a:tailEnd len="med" w="med" type="triangle"/>
          </a:ln>
        </p:spPr>
      </p:cxnSp>
      <p:cxnSp>
        <p:nvCxnSpPr>
          <p:cNvPr id="211" name="Google Shape;211;p25"/>
          <p:cNvCxnSpPr>
            <a:stCxn id="206" idx="3"/>
            <a:endCxn id="207" idx="1"/>
          </p:cNvCxnSpPr>
          <p:nvPr/>
        </p:nvCxnSpPr>
        <p:spPr>
          <a:xfrm>
            <a:off x="6608064" y="2206658"/>
            <a:ext cx="464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sm" w="sm" type="none"/>
            <a:tailEnd len="med" w="med" type="triangle"/>
          </a:ln>
        </p:spPr>
      </p:cxnSp>
      <p:cxnSp>
        <p:nvCxnSpPr>
          <p:cNvPr id="212" name="Google Shape;212;p25"/>
          <p:cNvCxnSpPr>
            <a:stCxn id="206" idx="3"/>
            <a:endCxn id="209" idx="1"/>
          </p:cNvCxnSpPr>
          <p:nvPr/>
        </p:nvCxnSpPr>
        <p:spPr>
          <a:xfrm>
            <a:off x="6608064" y="2206658"/>
            <a:ext cx="464400" cy="73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sm" w="sm" type="none"/>
            <a:tailEnd len="med" w="med" type="triangle"/>
          </a:ln>
        </p:spPr>
      </p:cxnSp>
      <p:cxnSp>
        <p:nvCxnSpPr>
          <p:cNvPr id="213" name="Google Shape;213;p25"/>
          <p:cNvCxnSpPr>
            <a:stCxn id="204" idx="3"/>
            <a:endCxn id="205" idx="1"/>
          </p:cNvCxnSpPr>
          <p:nvPr/>
        </p:nvCxnSpPr>
        <p:spPr>
          <a:xfrm>
            <a:off x="2071613" y="2206658"/>
            <a:ext cx="464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4" name="Google Shape;214;p25"/>
          <p:cNvCxnSpPr>
            <a:stCxn id="205" idx="3"/>
            <a:endCxn id="206" idx="1"/>
          </p:cNvCxnSpPr>
          <p:nvPr/>
        </p:nvCxnSpPr>
        <p:spPr>
          <a:xfrm>
            <a:off x="4339838" y="2206658"/>
            <a:ext cx="464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5" name="Google Shape;215;p25"/>
          <p:cNvSpPr/>
          <p:nvPr/>
        </p:nvSpPr>
        <p:spPr>
          <a:xfrm>
            <a:off x="267725" y="2463908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2"/>
                </a:solidFill>
              </a:rPr>
              <a:t>Envio feito por planilhas de Excel, com </a:t>
            </a:r>
            <a:r>
              <a:rPr lang="en" sz="1100">
                <a:solidFill>
                  <a:schemeClr val="dk2"/>
                </a:solidFill>
              </a:rPr>
              <a:t>células</a:t>
            </a:r>
            <a:r>
              <a:rPr lang="en" sz="1100">
                <a:solidFill>
                  <a:schemeClr val="dk2"/>
                </a:solidFill>
              </a:rPr>
              <a:t> em branco e registros incompletos</a:t>
            </a:r>
            <a:endParaRPr b="1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5"/>
          <p:cNvSpPr/>
          <p:nvPr/>
        </p:nvSpPr>
        <p:spPr>
          <a:xfrm>
            <a:off x="2535950" y="2463908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Tratativa dos dados em SQL e adição de regras de negócio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5"/>
          <p:cNvSpPr/>
          <p:nvPr/>
        </p:nvSpPr>
        <p:spPr>
          <a:xfrm>
            <a:off x="4804175" y="2451858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Armazenamento e interface dos dados para que seja oferecidas as áreas de negócio</a:t>
            </a:r>
            <a:endParaRPr b="0" i="0" sz="11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5"/>
          <p:cNvSpPr/>
          <p:nvPr/>
        </p:nvSpPr>
        <p:spPr>
          <a:xfrm>
            <a:off x="4804175" y="3428420"/>
            <a:ext cx="1803900" cy="15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(Execução em Docker*)</a:t>
            </a:r>
            <a:endParaRPr b="1" i="0" sz="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5"/>
          <p:cNvSpPr/>
          <p:nvPr/>
        </p:nvSpPr>
        <p:spPr>
          <a:xfrm>
            <a:off x="2535950" y="3451208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" sz="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Escolha pautada no fato de ser uma ferramenta que já possui uma série de artefatos para construir uma arquitetura escalável, com boa observabilidad e possui ferramentas integradas que facilitam testes entre outros tópicos.</a:t>
            </a:r>
            <a:endParaRPr b="0" i="0" sz="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5"/>
          <p:cNvSpPr txBox="1"/>
          <p:nvPr/>
        </p:nvSpPr>
        <p:spPr>
          <a:xfrm>
            <a:off x="7106" y="4720547"/>
            <a:ext cx="6278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Observação: Pela solução ter sido inspirada em pipelines modernos, os DDLs não cobrem relacionamentos. Para validação mais detalhada da integridade referencial do banco, o DBT possui ferramentas como a “relationships” para realizar testes em cima disso.</a:t>
            </a:r>
            <a:endParaRPr b="0" i="0" sz="800" u="none" cap="none" strike="noStrike">
              <a:solidFill>
                <a:schemeClr val="dk2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/>
          <p:nvPr/>
        </p:nvSpPr>
        <p:spPr>
          <a:xfrm>
            <a:off x="-113" y="0"/>
            <a:ext cx="9144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6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Resolvendo o problema</a:t>
            </a:r>
            <a:endParaRPr b="0" i="0" sz="800" u="none" cap="none" strike="noStrike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27" name="Google Shape;227;p26"/>
          <p:cNvSpPr txBox="1"/>
          <p:nvPr/>
        </p:nvSpPr>
        <p:spPr>
          <a:xfrm>
            <a:off x="498750" y="2033100"/>
            <a:ext cx="8146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APRESENTAÇÃO DO FUNCIONAMENTO DO PROJETO</a:t>
            </a:r>
            <a:endParaRPr b="0"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7"/>
          <p:cNvSpPr/>
          <p:nvPr/>
        </p:nvSpPr>
        <p:spPr>
          <a:xfrm>
            <a:off x="-100" y="0"/>
            <a:ext cx="4572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7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Insights Finais</a:t>
            </a:r>
            <a:endParaRPr b="0" i="0" sz="800" u="none" cap="none" strike="noStrike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34" name="Google Shape;234;p27"/>
          <p:cNvSpPr txBox="1"/>
          <p:nvPr/>
        </p:nvSpPr>
        <p:spPr>
          <a:xfrm>
            <a:off x="224305" y="143975"/>
            <a:ext cx="412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 ESSE PROJETO FOSSE PARA PRODUÇÃO PODERÍAMOS PENSAR NOS SEGUINTES ASPECTOS</a:t>
            </a:r>
            <a:endParaRPr b="0" i="0" sz="12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5" name="Google Shape;235;p27"/>
          <p:cNvSpPr txBox="1"/>
          <p:nvPr/>
        </p:nvSpPr>
        <p:spPr>
          <a:xfrm>
            <a:off x="224305" y="869447"/>
            <a:ext cx="412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Negócios</a:t>
            </a:r>
            <a:endParaRPr b="0" i="0" sz="12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6" name="Google Shape;236;p27"/>
          <p:cNvSpPr txBox="1"/>
          <p:nvPr/>
        </p:nvSpPr>
        <p:spPr>
          <a:xfrm>
            <a:off x="199100" y="1326472"/>
            <a:ext cx="41736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lvetica Neue"/>
              <a:buChar char="●"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Ranking de cooperados e clientes: Bonificação e programas de incentivo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lvetica Neue"/>
              <a:buChar char="●"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Previsão de demanda: Data Science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lvetica Neue"/>
              <a:buChar char="●"/>
            </a:pPr>
            <a:r>
              <a:rPr b="0" i="0" lang="en" sz="1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Análises comerciais avançadas, como churn, RFM, segmentações</a:t>
            </a:r>
            <a:endParaRPr b="0" i="0" sz="14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7" name="Google Shape;237;p27"/>
          <p:cNvSpPr txBox="1"/>
          <p:nvPr/>
        </p:nvSpPr>
        <p:spPr>
          <a:xfrm>
            <a:off x="4754075" y="1326472"/>
            <a:ext cx="41736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Carga Incremental</a:t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Conectar os dados da camada Gold a uma ferramenta de BI</a:t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Font typeface="Arial"/>
              <a:buChar char="●"/>
            </a:pPr>
            <a:r>
              <a:rPr b="0" i="0" lang="en" sz="1400" u="none" cap="none" strike="noStrike">
                <a:solidFill>
                  <a:srgbClr val="003641"/>
                </a:solidFill>
                <a:latin typeface="Arial"/>
                <a:ea typeface="Arial"/>
                <a:cs typeface="Arial"/>
                <a:sym typeface="Arial"/>
              </a:rPr>
              <a:t>Sistema interno de padronização de entrada de dados</a:t>
            </a:r>
            <a:endParaRPr b="0" i="0" sz="1400" u="none" cap="none" strike="noStrike">
              <a:solidFill>
                <a:srgbClr val="00364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7"/>
          <p:cNvSpPr txBox="1"/>
          <p:nvPr/>
        </p:nvSpPr>
        <p:spPr>
          <a:xfrm>
            <a:off x="4779280" y="869447"/>
            <a:ext cx="412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Técnicos</a:t>
            </a:r>
            <a:endParaRPr b="0" i="0" sz="1200" u="none" cap="none" strike="noStrike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/>
          <p:nvPr/>
        </p:nvSpPr>
        <p:spPr>
          <a:xfrm>
            <a:off x="-113" y="0"/>
            <a:ext cx="9144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290375" y="266950"/>
            <a:ext cx="31167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OBRIGADO!</a:t>
            </a:r>
            <a:endParaRPr b="0" i="0" sz="11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5" name="Google Shape;245;p28"/>
          <p:cNvSpPr txBox="1"/>
          <p:nvPr/>
        </p:nvSpPr>
        <p:spPr>
          <a:xfrm>
            <a:off x="5211075" y="4602800"/>
            <a:ext cx="3877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EDUARDO BRAGA BONFIM</a:t>
            </a:r>
            <a:endParaRPr b="0" i="0" sz="10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14/05/2026</a:t>
            </a:r>
            <a:endParaRPr b="0" i="0" sz="10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290375" y="898150"/>
            <a:ext cx="3877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LINK PARA O REPOSITÓRIO NO GITHUB: </a:t>
            </a:r>
            <a:r>
              <a:rPr b="0" i="0" lang="en" sz="1000" u="sng" cap="none" strike="noStrike">
                <a:solidFill>
                  <a:schemeClr val="hlink"/>
                </a:solidFill>
                <a:latin typeface="Helvetica Neue"/>
                <a:ea typeface="Helvetica Neue"/>
                <a:cs typeface="Helvetica Neue"/>
                <a:sym typeface="Helvetica Neue"/>
                <a:hlinkClick r:id="rId3"/>
              </a:rPr>
              <a:t>https://github.com/ebbonfimm/case_sicoob_coopllactia</a:t>
            </a:r>
            <a:endParaRPr b="0" i="0" sz="10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